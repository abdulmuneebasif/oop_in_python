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38225"/>
            <a:ext cx="7143750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862" b="1" spc="1" kern="0" dirty="0">
                <a:solidFill>
                  <a:srgbClr val="4EC9B0"/>
                </a:solidFill>
              </a:rPr>
              <a:t>Mastering Object-Oriented Programming (OOP) in Python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000125" y="2964098"/>
            <a:ext cx="7143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D4D4D4"/>
                </a:solidFill>
              </a:rPr>
              <a:t>A Comprehensive Guide to Principles, Patterns, and Best Practices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3619677" y="3649898"/>
            <a:ext cx="6339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CDCAA"/>
                </a:solidFill>
              </a:rPr>
              <a:t>Manus AI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539351" y="3649898"/>
            <a:ext cx="9849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DCDCAA"/>
                </a:solidFill>
              </a:rPr>
              <a:t>November 2025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Presentation Roadmap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251942"/>
            <a:ext cx="3857625" cy="1094305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51942"/>
            <a:ext cx="21431" cy="1094305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394817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DCAA"/>
                </a:solidFill>
              </a:rPr>
              <a:t>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035844" y="1394817"/>
            <a:ext cx="298117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Introduction to OOP vs. Procedural Programming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714875" y="1251942"/>
            <a:ext cx="3857625" cy="1094305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14875" y="1251942"/>
            <a:ext cx="21431" cy="1094305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7"/>
          <p:cNvSpPr/>
          <p:nvPr/>
        </p:nvSpPr>
        <p:spPr>
          <a:xfrm>
            <a:off x="4857750" y="1394817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DCAA"/>
                </a:solidFill>
              </a:rPr>
              <a:t>2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179219" y="1394817"/>
            <a:ext cx="277557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Core Concepts: Classes, Objects, and Methods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2560560"/>
            <a:ext cx="3857625" cy="1274322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560560"/>
            <a:ext cx="21431" cy="127432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703435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DCAA"/>
                </a:solidFill>
              </a:rPr>
              <a:t>3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035844" y="2703435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The Four Pillars: Encapsulation, Abstraction, Inheritance, Polymorphism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714875" y="2560560"/>
            <a:ext cx="3857625" cy="1274322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714875" y="2560560"/>
            <a:ext cx="21431" cy="127432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8" name="Text 15"/>
          <p:cNvSpPr/>
          <p:nvPr/>
        </p:nvSpPr>
        <p:spPr>
          <a:xfrm>
            <a:off x="4857750" y="2703435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DCAA"/>
                </a:solidFill>
              </a:rPr>
              <a:t>4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179219" y="2703435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Advanced Topics: super(), Dunder Methods, Composition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571500" y="4049195"/>
            <a:ext cx="3857625" cy="1094305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4049195"/>
            <a:ext cx="21431" cy="1094305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22" name="Text 19"/>
          <p:cNvSpPr/>
          <p:nvPr/>
        </p:nvSpPr>
        <p:spPr>
          <a:xfrm>
            <a:off x="714375" y="4192070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DCAA"/>
                </a:solidFill>
              </a:rPr>
              <a:t>5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1035844" y="4192070"/>
            <a:ext cx="250296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Best Practices and Real-World Application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4714875" y="4049195"/>
            <a:ext cx="3857625" cy="1094305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714875" y="4049195"/>
            <a:ext cx="21431" cy="1094305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0" y="4192070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CDCAA"/>
                </a:solidFill>
              </a:rPr>
              <a:t>6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179219" y="4192070"/>
            <a:ext cx="166072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Mini Project Demonstration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1" kern="0" dirty="0">
                <a:solidFill>
                  <a:srgbClr val="4EC9B0"/>
                </a:solidFill>
              </a:rPr>
              <a:t>Defining Object-Oriented Programming (OOP)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1343025"/>
            <a:ext cx="4000500" cy="1017203"/>
          </a:xfrm>
          <a:prstGeom prst="rect">
            <a:avLst/>
          </a:prstGeom>
          <a:solidFill>
            <a:srgbClr val="5ECDB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43025"/>
            <a:ext cx="28575" cy="1017203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343025"/>
            <a:ext cx="4000500" cy="1017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4D4D4"/>
                </a:solidFill>
              </a:rPr>
              <a:t>OOP is a programming paradigm based on the concept of "objects," which can contain data (attributes) and code (methods). The primary goal of OOP is to model real-world entities and relationships, making complex systems easier to design, maintain, and scale.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2717416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•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657225" y="2717416"/>
            <a:ext cx="310295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569CD6"/>
                </a:solidFill>
              </a:rPr>
              <a:t>Objects: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Instances of a class, representing real-world entities.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428625" y="3006737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•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657225" y="3006737"/>
            <a:ext cx="266445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569CD6"/>
                </a:solidFill>
              </a:rPr>
              <a:t>Classes: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Blueprints or templates for creating objects.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428625" y="3296059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•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657225" y="3296059"/>
            <a:ext cx="367292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569CD6"/>
                </a:solidFill>
              </a:rPr>
              <a:t>Four Pillars: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Encapsulation, Abstraction, Inheritance, and Polymorphism.</a:t>
            </a:r>
            <a:endParaRPr lang="en-US" sz="734" dirty="0"/>
          </a:p>
        </p:txBody>
      </p:sp>
      <p:sp>
        <p:nvSpPr>
          <p:cNvPr id="13" name="Shape 10"/>
          <p:cNvSpPr/>
          <p:nvPr/>
        </p:nvSpPr>
        <p:spPr>
          <a:xfrm>
            <a:off x="4714875" y="428625"/>
            <a:ext cx="4000500" cy="4714875"/>
          </a:xfrm>
          <a:prstGeom prst="rect">
            <a:avLst/>
          </a:prstGeom>
          <a:solidFill>
            <a:srgbClr val="1E1E1E">
              <a:alpha val="50000"/>
            </a:srgbClr>
          </a:solidFill>
          <a:ln w="18288">
            <a:solidFill>
              <a:srgbClr val="569C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696404"/>
            <a:ext cx="4000500" cy="4179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Paradigm Shift: OOP vs. Procedural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32197" y="1107281"/>
            <a:ext cx="8279606" cy="447182"/>
          </a:xfrm>
          <a:prstGeom prst="rect">
            <a:avLst/>
          </a:prstGeom>
          <a:solidFill>
            <a:srgbClr val="2D2D30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107281"/>
            <a:ext cx="2069902" cy="447182"/>
          </a:xfrm>
          <a:prstGeom prst="rect">
            <a:avLst/>
          </a:prstGeom>
          <a:solidFill>
            <a:srgbClr val="2D2D30"/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107281"/>
            <a:ext cx="2069902" cy="44718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Feature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2502098" y="1107281"/>
            <a:ext cx="3104852" cy="447182"/>
          </a:xfrm>
          <a:prstGeom prst="rect">
            <a:avLst/>
          </a:prstGeom>
          <a:solidFill>
            <a:srgbClr val="2D2D30"/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02098" y="1107281"/>
            <a:ext cx="3104852" cy="44718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Procedural Programming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606951" y="1107281"/>
            <a:ext cx="3104852" cy="447182"/>
          </a:xfrm>
          <a:prstGeom prst="rect">
            <a:avLst/>
          </a:prstGeom>
          <a:solidFill>
            <a:srgbClr val="2D2D30"/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06951" y="1107281"/>
            <a:ext cx="3104852" cy="44718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Object-Oriented Programming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32197" y="1547320"/>
            <a:ext cx="8279606" cy="435769"/>
          </a:xfrm>
          <a:prstGeom prst="rect">
            <a:avLst/>
          </a:prstGeom>
          <a:solidFill>
            <a:srgbClr val="2D2D30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32197" y="1547320"/>
            <a:ext cx="206990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4D4D4"/>
                </a:solidFill>
              </a:rPr>
              <a:t>Focus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2502098" y="1547320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Functions and procedures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5606951" y="1547320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Objects and classes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432197" y="1983088"/>
            <a:ext cx="8279606" cy="435769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32197" y="1983088"/>
            <a:ext cx="206990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4D4D4"/>
                </a:solidFill>
              </a:rPr>
              <a:t>Data &amp; Code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2502098" y="1983088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Separated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606951" y="1983088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Bundled together (Encapsulation)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32197" y="2418857"/>
            <a:ext cx="8279606" cy="435769"/>
          </a:xfrm>
          <a:prstGeom prst="rect">
            <a:avLst/>
          </a:prstGeom>
          <a:solidFill>
            <a:srgbClr val="2D2D30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32197" y="2418857"/>
            <a:ext cx="206990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4D4D4"/>
                </a:solidFill>
              </a:rPr>
              <a:t>Design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2502098" y="2418857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Top-down approach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606951" y="2418857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Bottom-up approach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432197" y="2854626"/>
            <a:ext cx="8279606" cy="435769"/>
          </a:xfrm>
          <a:prstGeom prst="rect">
            <a:avLst/>
          </a:prstGeom>
          <a:solidFill>
            <a:srgbClr val="5ECDB0">
              <a:alpha val="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32197" y="2854626"/>
            <a:ext cx="206990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4D4D4"/>
                </a:solidFill>
              </a:rPr>
              <a:t>Reusability</a:t>
            </a:r>
            <a:endParaRPr lang="en-US" sz="734" dirty="0"/>
          </a:p>
        </p:txBody>
      </p:sp>
      <p:sp>
        <p:nvSpPr>
          <p:cNvPr id="25" name="Text 22"/>
          <p:cNvSpPr/>
          <p:nvPr/>
        </p:nvSpPr>
        <p:spPr>
          <a:xfrm>
            <a:off x="2502098" y="2854626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Low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5606951" y="2854626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High (through Inheritance)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432197" y="3290395"/>
            <a:ext cx="8279606" cy="435769"/>
          </a:xfrm>
          <a:prstGeom prst="rect">
            <a:avLst/>
          </a:prstGeom>
          <a:solidFill>
            <a:srgbClr val="2D2D30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32197" y="3290395"/>
            <a:ext cx="206990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4D4D4"/>
                </a:solidFill>
              </a:rPr>
              <a:t>Complexity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2502098" y="3290395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Difficult to manage for large systems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5606951" y="3290395"/>
            <a:ext cx="3104852" cy="435769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Easier to manage and scale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428625" y="4015485"/>
            <a:ext cx="8286750" cy="685800"/>
          </a:xfrm>
          <a:prstGeom prst="rect">
            <a:avLst/>
          </a:prstGeom>
          <a:solidFill>
            <a:srgbClr val="DCDCAA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28625" y="4015485"/>
            <a:ext cx="28575" cy="68580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4158360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Key Takeaway:</a:t>
            </a:r>
            <a:endParaRPr lang="en-US" sz="734" dirty="0"/>
          </a:p>
        </p:txBody>
      </p:sp>
      <p:sp>
        <p:nvSpPr>
          <p:cNvPr id="34" name="Text 31"/>
          <p:cNvSpPr/>
          <p:nvPr/>
        </p:nvSpPr>
        <p:spPr>
          <a:xfrm>
            <a:off x="571500" y="4386960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OOP offers a more intuitive and structured way to manage complexity by modeling real-world entities, leading to more maintainable and reusable code.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1" kern="0" dirty="0">
                <a:solidFill>
                  <a:srgbClr val="4EC9B0"/>
                </a:solidFill>
              </a:rPr>
              <a:t>The Blueprint and the Instance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885825"/>
            <a:ext cx="4036219" cy="751489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885825"/>
            <a:ext cx="21431" cy="751489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535781" y="992981"/>
            <a:ext cx="38219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Class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35781" y="1210140"/>
            <a:ext cx="38219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 user-defined blueprint or prototype from which objects are created. It defines a set of attributes and methods that the objects will possess.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4679156" y="885825"/>
            <a:ext cx="4036219" cy="751489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79156" y="885825"/>
            <a:ext cx="21431" cy="751489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7"/>
          <p:cNvSpPr/>
          <p:nvPr/>
        </p:nvSpPr>
        <p:spPr>
          <a:xfrm>
            <a:off x="4786313" y="992981"/>
            <a:ext cx="38219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Object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786313" y="1210140"/>
            <a:ext cx="38219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An instance of a class. When a class is defined, no memory is allocated. Memory is allocated only when an object is instantiated.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1851627"/>
            <a:ext cx="40362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Python Code Example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28625" y="2058795"/>
            <a:ext cx="4036219" cy="3084705"/>
          </a:xfrm>
          <a:prstGeom prst="rect">
            <a:avLst/>
          </a:prstGeom>
          <a:solidFill>
            <a:srgbClr val="252526"/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781" y="2165952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535781" y="2346331"/>
            <a:ext cx="7211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Class Attribute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535781" y="2515995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species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"Canis familiaris"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535781" y="2696375"/>
            <a:ext cx="4249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Method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535781" y="2866039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bark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(self):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35781" y="3041061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"Woof!"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535781" y="3221441"/>
            <a:ext cx="9494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Object Instantiation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535781" y="3391105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dog1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()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535781" y="3566127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dog2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()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35781" y="3746506"/>
            <a:ext cx="15657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Accessing attributes and methods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535781" y="3916170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(dog1.species)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35781" y="4091192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(dog2.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bark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())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4679156" y="1851627"/>
            <a:ext cx="4036219" cy="3291873"/>
          </a:xfrm>
          <a:prstGeom prst="rect">
            <a:avLst/>
          </a:prstGeom>
          <a:solidFill>
            <a:srgbClr val="1E1E1E">
              <a:alpha val="50000"/>
            </a:srgbClr>
          </a:solidFill>
          <a:ln w="18288">
            <a:solidFill>
              <a:srgbClr val="569CD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56" y="2232171"/>
            <a:ext cx="4036219" cy="2530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Initializing Objects with `__init__`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09067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Definition: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307306"/>
            <a:ext cx="8001000" cy="485775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07306"/>
            <a:ext cx="21431" cy="485775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307306"/>
            <a:ext cx="8001000" cy="48577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The `__init__` method is a special method (a "dunder" method) that is automatically called when a new object is created from a class. It is used to initialize the object's attributes. The first parameter, `self`, refers to the instance being created.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71500" y="2107406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Python Code Example: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71500" y="2334220"/>
            <a:ext cx="8001000" cy="2105844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2419945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1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978694" y="2419945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57225" y="2579954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2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1082725" y="2590670"/>
            <a:ext cx="12296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A9955"/>
                </a:solidFill>
              </a:rPr>
              <a:t># The constructor method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57225" y="2739963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3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978694" y="2739963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title, author, pages):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57225" y="2899972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4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978694" y="2899972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.title = title   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A9955"/>
                </a:solidFill>
              </a:rPr>
              <a:t># Instance Variable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57225" y="3059981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5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978694" y="3059981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.author = author 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A9955"/>
                </a:solidFill>
              </a:rPr>
              <a:t># Instance Variable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57225" y="3219990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6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978694" y="3219990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.pages = pages   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A9955"/>
                </a:solidFill>
              </a:rPr>
              <a:t># Instance Variable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57225" y="3379998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7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57225" y="3540007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8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978694" y="3540007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get_info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):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657225" y="3700016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9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978694" y="3700016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f'"{self.title}" by {self.author}, {self.pages} pages.'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57225" y="3860025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10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57225" y="4020034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11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978694" y="4020034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book1 =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"The Great Gatsby"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E9178"/>
                </a:solidFill>
              </a:rPr>
              <a:t>"F. Scott Fitzgerald"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 180)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657225" y="4180043"/>
            <a:ext cx="2143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858585"/>
                </a:solidFill>
              </a:rPr>
              <a:t>12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978694" y="4180043"/>
            <a:ext cx="75080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print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(book1.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get_info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())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71500" y="4511501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Output: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571500" y="4738315"/>
            <a:ext cx="26170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E9178"/>
                </a:solidFill>
              </a:rPr>
              <a:t>"The Great Gatsby" by F. Scott Fitzgerald, 180 pages.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1" kern="0" dirty="0">
                <a:solidFill>
                  <a:srgbClr val="4EC9B0"/>
                </a:solidFill>
              </a:rPr>
              <a:t>Data Scope: Instance vs. Class Variables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1343025"/>
            <a:ext cx="850916" cy="314325"/>
          </a:xfrm>
          <a:prstGeom prst="rect">
            <a:avLst/>
          </a:prstGeom>
          <a:solidFill>
            <a:srgbClr val="5ECDB0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643063"/>
            <a:ext cx="850916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343025"/>
            <a:ext cx="85091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Feature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279541" y="1343025"/>
            <a:ext cx="1501583" cy="314325"/>
          </a:xfrm>
          <a:prstGeom prst="rect">
            <a:avLst/>
          </a:prstGeom>
          <a:solidFill>
            <a:srgbClr val="5ECDB0">
              <a:alpha val="1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279541" y="1643063"/>
            <a:ext cx="1501583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6"/>
          <p:cNvSpPr/>
          <p:nvPr/>
        </p:nvSpPr>
        <p:spPr>
          <a:xfrm>
            <a:off x="1279541" y="1343025"/>
            <a:ext cx="1501583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Instance Variables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781123" y="1343025"/>
            <a:ext cx="1648002" cy="314325"/>
          </a:xfrm>
          <a:prstGeom prst="rect">
            <a:avLst/>
          </a:prstGeom>
          <a:solidFill>
            <a:srgbClr val="5ECDB0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781123" y="1643063"/>
            <a:ext cx="1648002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2" name="Text 9"/>
          <p:cNvSpPr/>
          <p:nvPr/>
        </p:nvSpPr>
        <p:spPr>
          <a:xfrm>
            <a:off x="2781123" y="1343025"/>
            <a:ext cx="1648002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Class Variables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14350" y="1737717"/>
            <a:ext cx="3014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Scope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279541" y="1650206"/>
            <a:ext cx="1501583" cy="3150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Unique to each object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781123" y="1650206"/>
            <a:ext cx="1648002" cy="3150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Shared by all objects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14350" y="2056312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Definition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279541" y="1965229"/>
            <a:ext cx="1501583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Inside __init__ with self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781123" y="1965229"/>
            <a:ext cx="1648002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Inside class, outside methods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14350" y="2374906"/>
            <a:ext cx="4158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Memory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1279541" y="2283823"/>
            <a:ext cx="1501583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Separate for each instance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2781123" y="2283823"/>
            <a:ext cx="1648002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Single copy in memory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14350" y="2693501"/>
            <a:ext cx="3303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Access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1279541" y="2602418"/>
            <a:ext cx="1501583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obj.variable_name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2781123" y="2602418"/>
            <a:ext cx="1648002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ClassName.variable_name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514350" y="3012095"/>
            <a:ext cx="6325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Modification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1279541" y="2921012"/>
            <a:ext cx="1501583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Affects only that instance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2781123" y="2921012"/>
            <a:ext cx="1648002" cy="3185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Affects all instances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4714875" y="428625"/>
            <a:ext cx="4000500" cy="1078706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714875" y="428625"/>
            <a:ext cx="4000500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30" name="Shape 27"/>
          <p:cNvSpPr/>
          <p:nvPr/>
        </p:nvSpPr>
        <p:spPr>
          <a:xfrm>
            <a:off x="8701088" y="428625"/>
            <a:ext cx="14288" cy="107870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31" name="Shape 28"/>
          <p:cNvSpPr/>
          <p:nvPr/>
        </p:nvSpPr>
        <p:spPr>
          <a:xfrm>
            <a:off x="4714875" y="1493044"/>
            <a:ext cx="4000500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32" name="Shape 29"/>
          <p:cNvSpPr/>
          <p:nvPr/>
        </p:nvSpPr>
        <p:spPr>
          <a:xfrm>
            <a:off x="4714875" y="428625"/>
            <a:ext cx="28575" cy="1078706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3" name="Text 30"/>
          <p:cNvSpPr/>
          <p:nvPr/>
        </p:nvSpPr>
        <p:spPr>
          <a:xfrm>
            <a:off x="4714875" y="428625"/>
            <a:ext cx="4000500" cy="10787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Employee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Class Variable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raise_amount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5CEA8"/>
                </a:solidFill>
              </a:rPr>
              <a:t>1.04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first, last, pay):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Instance Variables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.first = first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.last = last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.pay = pay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apply_raise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):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.pay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5CEA8"/>
                </a:solidFill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.pay *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.raise_amount) emp1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Employee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"John"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"Doe"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5CEA8"/>
                </a:solidFill>
              </a:rPr>
              <a:t>50000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emp2 =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Employee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"Jane"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"Smith"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5CEA8"/>
                </a:solidFill>
              </a:rPr>
              <a:t>60000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Instance variables are unique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print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(emp1.pay)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50000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print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(emp2.pay)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60000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Class variable shared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print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(emp1.raise_amount)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1.04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print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(emp2.raise_amount)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A9955"/>
                </a:solidFill>
              </a:rPr>
              <a:t># 1.04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Three Types of Methods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67991"/>
            <a:ext cx="8286750" cy="1387673"/>
          </a:xfrm>
          <a:prstGeom prst="rect">
            <a:avLst/>
          </a:prstGeom>
          <a:solidFill>
            <a:srgbClr val="569CD6">
              <a:alpha val="5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067991"/>
            <a:ext cx="1059312" cy="35718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410891"/>
            <a:ext cx="1059312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067991"/>
            <a:ext cx="1059312" cy="3571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Method Type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1487937" y="1067991"/>
            <a:ext cx="1129159" cy="35718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9" name="Shape 6"/>
          <p:cNvSpPr/>
          <p:nvPr/>
        </p:nvSpPr>
        <p:spPr>
          <a:xfrm>
            <a:off x="1487937" y="1410891"/>
            <a:ext cx="1129159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7"/>
          <p:cNvSpPr/>
          <p:nvPr/>
        </p:nvSpPr>
        <p:spPr>
          <a:xfrm>
            <a:off x="1487937" y="1067991"/>
            <a:ext cx="1129159" cy="3571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Decorator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2617096" y="1067991"/>
            <a:ext cx="1202773" cy="35718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12" name="Shape 9"/>
          <p:cNvSpPr/>
          <p:nvPr/>
        </p:nvSpPr>
        <p:spPr>
          <a:xfrm>
            <a:off x="2617096" y="1410891"/>
            <a:ext cx="1202773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3" name="Text 10"/>
          <p:cNvSpPr/>
          <p:nvPr/>
        </p:nvSpPr>
        <p:spPr>
          <a:xfrm>
            <a:off x="2617096" y="1067991"/>
            <a:ext cx="1202773" cy="3571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First Argument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3819869" y="1067991"/>
            <a:ext cx="4895506" cy="35718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15" name="Shape 12"/>
          <p:cNvSpPr/>
          <p:nvPr/>
        </p:nvSpPr>
        <p:spPr>
          <a:xfrm>
            <a:off x="3819869" y="1410891"/>
            <a:ext cx="4895506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6" name="Text 13"/>
          <p:cNvSpPr/>
          <p:nvPr/>
        </p:nvSpPr>
        <p:spPr>
          <a:xfrm>
            <a:off x="3819869" y="1067991"/>
            <a:ext cx="4895506" cy="35718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Purpose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35781" y="1518047"/>
            <a:ext cx="4033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Instance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1487937" y="1418034"/>
            <a:ext cx="1129159" cy="330398"/>
          </a:xfrm>
          <a:prstGeom prst="rect">
            <a:avLst/>
          </a:prstGeom>
          <a:noFill/>
          <a:ln/>
        </p:spPr>
        <p:txBody>
          <a:bodyPr wrap="square" lIns="127508" tIns="119126" rIns="1275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None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2724252" y="1518047"/>
            <a:ext cx="152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2877034" y="1518047"/>
            <a:ext cx="6131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(the instance)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3819869" y="1418034"/>
            <a:ext cx="4895506" cy="330398"/>
          </a:xfrm>
          <a:prstGeom prst="rect">
            <a:avLst/>
          </a:prstGeom>
          <a:noFill/>
          <a:ln/>
        </p:spPr>
        <p:txBody>
          <a:bodyPr wrap="square" lIns="127508" tIns="119126" rIns="1275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Operate on instance data. Most common type.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535781" y="1852017"/>
            <a:ext cx="2359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Class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1595093" y="1852017"/>
            <a:ext cx="6714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@classmethod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2724252" y="1852017"/>
            <a:ext cx="1130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cls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2837297" y="1852017"/>
            <a:ext cx="4569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(the class)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3819869" y="1748433"/>
            <a:ext cx="4895506" cy="333970"/>
          </a:xfrm>
          <a:prstGeom prst="rect">
            <a:avLst/>
          </a:prstGeom>
          <a:noFill/>
          <a:ln/>
        </p:spPr>
        <p:txBody>
          <a:bodyPr wrap="square" lIns="127508" tIns="119126" rIns="1275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Operate on class data (class variables). Used as factory methods.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535781" y="2185988"/>
            <a:ext cx="2639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Static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1595093" y="2185988"/>
            <a:ext cx="7059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@staticmethod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2617096" y="2082403"/>
            <a:ext cx="1202773" cy="330398"/>
          </a:xfrm>
          <a:prstGeom prst="rect">
            <a:avLst/>
          </a:prstGeom>
          <a:noFill/>
          <a:ln/>
        </p:spPr>
        <p:txBody>
          <a:bodyPr wrap="square" lIns="127508" tIns="119126" rIns="1275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None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3819869" y="2082403"/>
            <a:ext cx="4895506" cy="330398"/>
          </a:xfrm>
          <a:prstGeom prst="rect">
            <a:avLst/>
          </a:prstGeom>
          <a:noFill/>
          <a:ln/>
        </p:spPr>
        <p:txBody>
          <a:bodyPr wrap="square" lIns="127508" tIns="119126" rIns="1275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Utility functions with logical connection to class but no access to instance or class data.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428625" y="2662833"/>
            <a:ext cx="8286750" cy="1462906"/>
          </a:xfrm>
          <a:prstGeom prst="rect">
            <a:avLst/>
          </a:prstGeom>
          <a:solidFill>
            <a:srgbClr val="252526"/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1500" y="2762845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Calculator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: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571500" y="2979279"/>
            <a:ext cx="6590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@staticmethod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571500" y="3174281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add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(x, y):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571500" y="3379998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x + y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571500" y="3585716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result = Calculator.add(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10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5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571500" y="3791434"/>
            <a:ext cx="80010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f"Static Method Result: {result}"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</a:t>
            </a:r>
            <a:endParaRPr lang="en-US" sz="674" dirty="0"/>
          </a:p>
        </p:txBody>
      </p:sp>
      <p:sp>
        <p:nvSpPr>
          <p:cNvPr id="38" name="Shape 35"/>
          <p:cNvSpPr/>
          <p:nvPr/>
        </p:nvSpPr>
        <p:spPr>
          <a:xfrm>
            <a:off x="428625" y="4275758"/>
            <a:ext cx="8286750" cy="514350"/>
          </a:xfrm>
          <a:prstGeom prst="rect">
            <a:avLst/>
          </a:prstGeom>
          <a:solidFill>
            <a:srgbClr val="CE9178">
              <a:alpha val="1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8625" y="4275758"/>
            <a:ext cx="28575" cy="51435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40" name="Text 37"/>
          <p:cNvSpPr/>
          <p:nvPr/>
        </p:nvSpPr>
        <p:spPr>
          <a:xfrm>
            <a:off x="428625" y="4275758"/>
            <a:ext cx="8286750" cy="51435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Key Takeaway: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Methods define the behavior of objects. Choosing the right method type (instance, class, or static) depends on whether you need to interact with instance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data, class data, or neither.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Encapsulation: Bundling Data and Methods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925116"/>
            <a:ext cx="8286750" cy="534330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25116"/>
            <a:ext cx="28575" cy="53433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925116"/>
            <a:ext cx="8286750" cy="5343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Definition: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Encapsulation is the mechanism of restricting direct access to an object's data (attributes) and methods, bundling them together within a class. It prevents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accidental modification of data and hides the internal implementation details.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28625" y="1638040"/>
            <a:ext cx="4071938" cy="646509"/>
          </a:xfrm>
          <a:prstGeom prst="rect">
            <a:avLst/>
          </a:prstGeom>
          <a:solidFill>
            <a:srgbClr val="569CD6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638040"/>
            <a:ext cx="21431" cy="646509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9" name="Text 6"/>
          <p:cNvSpPr/>
          <p:nvPr/>
        </p:nvSpPr>
        <p:spPr>
          <a:xfrm>
            <a:off x="535781" y="1723765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Single Underscore (_variable)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35781" y="1920218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By convention, indicates a protected attribute. Should not be accessed directly from outside the class, but Python does not enforce this restriction.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4643438" y="1638040"/>
            <a:ext cx="4071938" cy="646509"/>
          </a:xfrm>
          <a:prstGeom prst="rect">
            <a:avLst/>
          </a:prstGeom>
          <a:solidFill>
            <a:srgbClr val="569CD6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43438" y="1638040"/>
            <a:ext cx="21431" cy="646509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0"/>
          <p:cNvSpPr/>
          <p:nvPr/>
        </p:nvSpPr>
        <p:spPr>
          <a:xfrm>
            <a:off x="4750594" y="1723765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Double Underscore (__variable)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750594" y="1920218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Invokes name mangling, making the attribute harder to access from outside. Python mangles the name to _ClassName__variable.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428625" y="2606018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Python Code Example (Using Getters and Setters):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28625" y="2827474"/>
            <a:ext cx="8286750" cy="200025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5781" y="2934630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Account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35781" y="3091793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balance):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535781" y="3254313"/>
            <a:ext cx="14304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Protected attribute by convention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35781" y="3406118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._balance = balance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35781" y="3568638"/>
            <a:ext cx="67338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Getter method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35781" y="3720443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get_balance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535781" y="3877605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._balance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535781" y="4040125"/>
            <a:ext cx="12706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Setter method with validation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535781" y="4191930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deposit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amount):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535781" y="4349093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if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 amount &gt;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0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535781" y="4506255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._balance += amount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535781" y="4663418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True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535781" y="4820580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False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535781" y="4977743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my_account =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Account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1000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535781" y="5134905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my_account.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deposit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500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535781" y="5292068"/>
            <a:ext cx="8072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print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f"New Balance: {my_account.get_balance()}"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Abstraction: Hiding Complexity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09067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Definition: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335881"/>
            <a:ext cx="3857625" cy="728663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35881"/>
            <a:ext cx="21431" cy="728663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335881"/>
            <a:ext cx="3857625" cy="7286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4D4D4"/>
                </a:solidFill>
              </a:rPr>
              <a:t>Abstraction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is the process of hiding the complex implementation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details and showing only the essential features of the object to the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user. It focuses on 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D4D4D4"/>
                </a:solidFill>
              </a:rPr>
              <a:t>what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the object does rather than 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D4D4D4"/>
                </a:solidFill>
              </a:rPr>
              <a:t>how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 it does it.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571500" y="2243138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Implementation in Python: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2469952"/>
            <a:ext cx="1428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•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800100" y="2469952"/>
            <a:ext cx="36290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Achieved using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Abstract Base Classes (ABCs)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from the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abc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module.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2711388"/>
            <a:ext cx="1428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•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800100" y="2711388"/>
            <a:ext cx="36290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An abstract class cannot be instantiated directly.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71500" y="2952824"/>
            <a:ext cx="1428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•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800100" y="2952824"/>
            <a:ext cx="36290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Subclasses must implement all abstract methods defined in the ABC.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714875" y="1109067"/>
            <a:ext cx="3857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Python Code Example (Abstract Base Class):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4714875" y="1350169"/>
            <a:ext cx="3857625" cy="228600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2031" y="1457325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5143500" y="1457325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from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abc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import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ABC, abstractmethod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822031" y="1615185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2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822031" y="1773045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3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5143500" y="1773045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Vehicle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(ABC):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4822031" y="1930905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4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240108" y="1945193"/>
            <a:ext cx="7808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@abstractmethod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822031" y="208876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5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143500" y="2088766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start_engine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):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822031" y="224662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6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5336688" y="2260913"/>
            <a:ext cx="19818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pass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4822031" y="240448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7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822031" y="256234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8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5143500" y="2562346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stop_engine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):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4822031" y="272020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9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5143500" y="2720206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"Engine stopped."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822031" y="287806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10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822031" y="303592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11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5143500" y="3035926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Car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(Vehicle):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4822031" y="3193786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12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5143500" y="3193786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start_engine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):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822031" y="3351647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13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5143500" y="3351647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E9178"/>
                </a:solidFill>
              </a:rPr>
              <a:t>"Car engine started with a key."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)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822031" y="3509507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14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822031" y="3667367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15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5143500" y="3667367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car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Car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()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4822031" y="3825227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16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5143500" y="3825227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car.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start_engine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()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4822031" y="3983087"/>
            <a:ext cx="214313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858585"/>
                </a:solidFill>
              </a:rPr>
              <a:t>17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5143500" y="3983087"/>
            <a:ext cx="332184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car.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stop_engine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()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1" kern="0" dirty="0">
                <a:solidFill>
                  <a:srgbClr val="4EC9B0"/>
                </a:solidFill>
              </a:rPr>
              <a:t>Inheritance: Code Reusability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07256"/>
            <a:ext cx="4000500" cy="622902"/>
          </a:xfrm>
          <a:prstGeom prst="rect">
            <a:avLst/>
          </a:prstGeom>
          <a:solidFill>
            <a:srgbClr val="5ECDB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07256"/>
            <a:ext cx="28575" cy="62290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907256"/>
            <a:ext cx="4000500" cy="62290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Inheritance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is a mechanism that allows a new class (subclass or derived class)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to inherit attributes and methods from an existing class (superclass or base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class). This promotes code reusability and establishes an "is-a" relationship.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1658745"/>
            <a:ext cx="10715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•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07219" y="1658745"/>
            <a:ext cx="345696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Base Class: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The parent class whose attributes and methods are inherited.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1855896"/>
            <a:ext cx="10715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•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07219" y="1855896"/>
            <a:ext cx="382190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Derived Class: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The child class that inherits from the base class and can extend or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override functionality.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2193048"/>
            <a:ext cx="10715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•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07219" y="2193048"/>
            <a:ext cx="324273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super():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Function to call parent class methods from the derived class.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28625" y="2490211"/>
            <a:ext cx="4000500" cy="1008580"/>
          </a:xfrm>
          <a:prstGeom prst="rect">
            <a:avLst/>
          </a:prstGeom>
          <a:solidFill>
            <a:srgbClr val="252526"/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5775" y="2547361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735806" y="2547361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Animal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485775" y="2673074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735806" y="2673074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name):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85775" y="2798787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3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735806" y="2798787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.name = name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485775" y="2924501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4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735806" y="2924501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eat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485775" y="3050214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5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735806" y="3050214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f"{self.name} is eating."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485775" y="3175927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6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735806" y="3175927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Animal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85775" y="3301640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7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735806" y="3301640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name, breed):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2486025" y="2547361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8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2736056" y="2547361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super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().__init__(name)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2486025" y="2673074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9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2736056" y="2673074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.breed = breed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2486025" y="2798787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10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2736056" y="2798787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bark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2486025" y="2924501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11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2736056" y="2924501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f"{self.name} barks."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2486025" y="3050214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12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2736056" y="3050214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dog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"Buddy"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"Golden"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2486025" y="3175927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13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2736056" y="3175927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dog.eat() 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Inherited method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2486025" y="3301640"/>
            <a:ext cx="1785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14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2736056" y="3301640"/>
            <a:ext cx="16359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dog.bark()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Dog-specific method</a:t>
            </a:r>
            <a:endParaRPr lang="en-US" sz="621" dirty="0"/>
          </a:p>
        </p:txBody>
      </p:sp>
      <p:sp>
        <p:nvSpPr>
          <p:cNvPr id="42" name="Shape 39"/>
          <p:cNvSpPr/>
          <p:nvPr/>
        </p:nvSpPr>
        <p:spPr>
          <a:xfrm>
            <a:off x="4714875" y="428625"/>
            <a:ext cx="4000500" cy="4714875"/>
          </a:xfrm>
          <a:prstGeom prst="rect">
            <a:avLst/>
          </a:prstGeom>
          <a:solidFill>
            <a:srgbClr val="1E1E1E">
              <a:alpha val="50000"/>
            </a:srgbClr>
          </a:solidFill>
          <a:ln w="18288">
            <a:solidFill>
              <a:srgbClr val="569CD6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351592"/>
            <a:ext cx="4000500" cy="28689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43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Inheritance Structures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457799"/>
            <a:ext cx="4057650" cy="728607"/>
          </a:xfrm>
          <a:prstGeom prst="rect">
            <a:avLst/>
          </a:prstGeom>
          <a:solidFill>
            <a:srgbClr val="569CD6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457799"/>
            <a:ext cx="28575" cy="728607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6" name="Text 3"/>
          <p:cNvSpPr/>
          <p:nvPr/>
        </p:nvSpPr>
        <p:spPr>
          <a:xfrm>
            <a:off x="557213" y="1529237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1. Single Inheritance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57213" y="1717821"/>
            <a:ext cx="38004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 class inherits from one base class. The simplest form of inheritance.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557213" y="1894963"/>
            <a:ext cx="3800475" cy="220005"/>
          </a:xfrm>
          <a:prstGeom prst="rect">
            <a:avLst/>
          </a:prstGeom>
          <a:solidFill>
            <a:srgbClr val="1E1E1E">
              <a:alpha val="70000"/>
            </a:srgbClr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213" y="1894963"/>
            <a:ext cx="3800475" cy="22000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Class B inherits from Class A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428625" y="2250700"/>
            <a:ext cx="4057650" cy="728607"/>
          </a:xfrm>
          <a:prstGeom prst="rect">
            <a:avLst/>
          </a:prstGeom>
          <a:solidFill>
            <a:srgbClr val="569CD6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2250700"/>
            <a:ext cx="28575" cy="728607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2" name="Text 9"/>
          <p:cNvSpPr/>
          <p:nvPr/>
        </p:nvSpPr>
        <p:spPr>
          <a:xfrm>
            <a:off x="557213" y="2322137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2. Multilevel Inheritance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57213" y="2510721"/>
            <a:ext cx="38004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 class inherits from a derived class, forming a chain of inheritance.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557213" y="2687864"/>
            <a:ext cx="3800475" cy="220005"/>
          </a:xfrm>
          <a:prstGeom prst="rect">
            <a:avLst/>
          </a:prstGeom>
          <a:solidFill>
            <a:srgbClr val="1E1E1E">
              <a:alpha val="70000"/>
            </a:srgbClr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213" y="2687864"/>
            <a:ext cx="3800475" cy="22000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Class C inherits from Class B, which inherits from Class A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428625" y="3043600"/>
            <a:ext cx="4057650" cy="728607"/>
          </a:xfrm>
          <a:prstGeom prst="rect">
            <a:avLst/>
          </a:prstGeom>
          <a:solidFill>
            <a:srgbClr val="569CD6">
              <a:alpha val="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3043600"/>
            <a:ext cx="28575" cy="728607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8" name="Text 15"/>
          <p:cNvSpPr/>
          <p:nvPr/>
        </p:nvSpPr>
        <p:spPr>
          <a:xfrm>
            <a:off x="557213" y="3115038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3. Multiple Inheritance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57213" y="3303622"/>
            <a:ext cx="38004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 class inherits from two or more base classes simultaneously.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557213" y="3480764"/>
            <a:ext cx="3800475" cy="220005"/>
          </a:xfrm>
          <a:prstGeom prst="rect">
            <a:avLst/>
          </a:prstGeom>
          <a:solidFill>
            <a:srgbClr val="1E1E1E">
              <a:alpha val="70000"/>
            </a:srgbClr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213" y="3480764"/>
            <a:ext cx="3800475" cy="22000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Class C inherits from both Class A and Class B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428625" y="3836501"/>
            <a:ext cx="4057650" cy="480027"/>
          </a:xfrm>
          <a:prstGeom prst="rect">
            <a:avLst/>
          </a:prstGeom>
          <a:solidFill>
            <a:srgbClr val="569CD6">
              <a:alpha val="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3836501"/>
            <a:ext cx="28575" cy="480027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4" name="Text 21"/>
          <p:cNvSpPr/>
          <p:nvPr/>
        </p:nvSpPr>
        <p:spPr>
          <a:xfrm>
            <a:off x="557213" y="3907938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4. Hierarchical Inheritance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57213" y="4096522"/>
            <a:ext cx="38004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Multiple classes inherit from a single base class.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428625" y="4387965"/>
            <a:ext cx="4057650" cy="480027"/>
          </a:xfrm>
          <a:prstGeom prst="rect">
            <a:avLst/>
          </a:prstGeom>
          <a:solidFill>
            <a:srgbClr val="569CD6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4387965"/>
            <a:ext cx="28575" cy="480027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8" name="Text 25"/>
          <p:cNvSpPr/>
          <p:nvPr/>
        </p:nvSpPr>
        <p:spPr>
          <a:xfrm>
            <a:off x="557213" y="4459402"/>
            <a:ext cx="38004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5. Hybrid Inheritance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57213" y="4647986"/>
            <a:ext cx="38004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 combination of two or more types of inheritance in a single program.</a:t>
            </a:r>
            <a:endParaRPr lang="en-US" sz="674" dirty="0"/>
          </a:p>
        </p:txBody>
      </p:sp>
      <p:sp>
        <p:nvSpPr>
          <p:cNvPr id="30" name="Shape 27"/>
          <p:cNvSpPr/>
          <p:nvPr/>
        </p:nvSpPr>
        <p:spPr>
          <a:xfrm>
            <a:off x="4657725" y="1787947"/>
            <a:ext cx="4057650" cy="3046809"/>
          </a:xfrm>
          <a:prstGeom prst="rect">
            <a:avLst/>
          </a:prstGeom>
          <a:solidFill>
            <a:srgbClr val="1E1E1E">
              <a:alpha val="50000"/>
            </a:srgbClr>
          </a:solidFill>
          <a:ln w="9144">
            <a:solidFill>
              <a:srgbClr val="569CD6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789733"/>
            <a:ext cx="4057650" cy="3043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Method Overriding: Customizing Behavior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073348"/>
            <a:ext cx="8001000" cy="534330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73348"/>
            <a:ext cx="28575" cy="53433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073348"/>
            <a:ext cx="8001000" cy="53433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Definition: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Method Overriding occurs when a subclass provides a specific implementation for a method that is already defined in its superclass. This allows a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subclass to change or extend the behavior of an inherited method.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1750554"/>
            <a:ext cx="8001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Python Code Example: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571500" y="1972010"/>
            <a:ext cx="8001000" cy="187423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8650" y="202916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878681" y="2029160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Vehicle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628650" y="216344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878681" y="2163440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move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628650" y="229772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3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878681" y="2297720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"The vehicle moves."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628650" y="243200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4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878681" y="2432000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Car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Vehicle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628650" y="256628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5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967839" y="2568067"/>
            <a:ext cx="12483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Overriding the move method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628650" y="270056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6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878681" y="2700561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move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628650" y="283484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7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878681" y="2834841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"The car drives on four wheels."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628650" y="296912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8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878681" y="2969121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Boat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Vehicle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628650" y="310340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9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967839" y="3105187"/>
            <a:ext cx="12483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Overriding the move method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628650" y="323768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10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878681" y="3237681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move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628650" y="337196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11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878681" y="3371962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"The boat sails on water."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628650" y="350624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12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878681" y="3506242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v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Vehicle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(); c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Car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(); b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Boat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628650" y="364052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13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878681" y="3640522"/>
            <a:ext cx="76366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v.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move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(); c.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move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(); b.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move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571500" y="3974827"/>
            <a:ext cx="8001000" cy="785813"/>
          </a:xfrm>
          <a:prstGeom prst="rect">
            <a:avLst/>
          </a:prstGeom>
          <a:solidFill>
            <a:srgbClr val="569CD6">
              <a:alpha val="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3974827"/>
            <a:ext cx="21431" cy="785813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7" name="Text 34"/>
          <p:cNvSpPr/>
          <p:nvPr/>
        </p:nvSpPr>
        <p:spPr>
          <a:xfrm>
            <a:off x="678656" y="4060552"/>
            <a:ext cx="77866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Output: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678656" y="4257005"/>
            <a:ext cx="77866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The vehicle moves.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678656" y="4396308"/>
            <a:ext cx="77866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The car drives on four wheels.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678656" y="4535612"/>
            <a:ext cx="77866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The boat sails on water.</a:t>
            </a:r>
            <a:endParaRPr lang="en-US" sz="67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Polymorphism: Many Forms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30473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Definition: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157288"/>
            <a:ext cx="8001000" cy="462893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157288"/>
            <a:ext cx="21431" cy="462893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157288"/>
            <a:ext cx="8001000" cy="462893"/>
          </a:xfrm>
          <a:prstGeom prst="rect">
            <a:avLst/>
          </a:prstGeom>
          <a:noFill/>
          <a:ln/>
        </p:spPr>
        <p:txBody>
          <a:bodyPr wrap="square" lIns="153035" tIns="85090" rIns="153035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Polymorphism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(meaning "many forms") allows objects of different classes to be treated as objects of a common type. In Python, this is often achieved through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Duck Typing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(if it walks like a duck and quacks like a duck, then it must be a duck) and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Method Overriding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.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1798774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Duck Typing: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Python focuses on what an object can do (its methods) rather than what type it is. If an object has the required method, it can be used interchangeably with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other objects that have the same method.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71500" y="2261667"/>
            <a:ext cx="80010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Python Code Example (Polymorphism with a Function):</a:t>
            </a:r>
            <a:endParaRPr lang="en-US" sz="734" dirty="0"/>
          </a:p>
        </p:txBody>
      </p:sp>
      <p:sp>
        <p:nvSpPr>
          <p:cNvPr id="10" name="Shape 7"/>
          <p:cNvSpPr/>
          <p:nvPr/>
        </p:nvSpPr>
        <p:spPr>
          <a:xfrm>
            <a:off x="571500" y="2479551"/>
            <a:ext cx="8001000" cy="228600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225" y="2565276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907256" y="2565276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Cat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657225" y="2715295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907256" y="2715295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speak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657225" y="2865313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3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907256" y="2865313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"Meow"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657225" y="3015332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4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907256" y="3015332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657225" y="3165351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5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907256" y="3165351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speak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657225" y="3315370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6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907256" y="3315370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"Woof"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657225" y="3465388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7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907256" y="3465388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animal_sound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(animal):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657225" y="3615407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8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996414" y="3620765"/>
            <a:ext cx="14192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Function doesn't care about type,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657225" y="3765426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9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996414" y="3770784"/>
            <a:ext cx="14003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only that it has a 'speak' method.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657225" y="3915445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10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907256" y="3915445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(animal.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speak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657225" y="4065463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11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907256" y="4065463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cat =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Cat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657225" y="4215482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12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907256" y="4215482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dog =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Dog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657225" y="4365501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13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907256" y="4365501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animal_sound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(cat) 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Output: Meow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657225" y="4515520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14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907256" y="4515520"/>
            <a:ext cx="7579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animal_sound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(dog) 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Output: Woof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83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`super()`: Accessing the Parent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412565"/>
            <a:ext cx="4000500" cy="854348"/>
          </a:xfrm>
          <a:prstGeom prst="rect">
            <a:avLst/>
          </a:prstGeom>
          <a:solidFill>
            <a:srgbClr val="5ECDB0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412565"/>
            <a:ext cx="28575" cy="85434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412565"/>
            <a:ext cx="4000500" cy="85434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Definition: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The `super()` function provides a way to access methods and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attributes of the parent or sibling class. It is most commonly used in the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`__init__` method of a subclass to call the parent's constructor, ensuring proper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initialization of inherited attributes.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2445507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Common Use Cases: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28625" y="2663391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621506" y="2663391"/>
            <a:ext cx="25034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Calling parent's `__init__()` to initialize inherited attributes.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28625" y="2874132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621506" y="2874132"/>
            <a:ext cx="28312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Calling overridden parent methods while extending functionality.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28625" y="3084872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621506" y="3084872"/>
            <a:ext cx="312430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Accessing parent class attributes and methods in multilevel inheritance.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3295613"/>
            <a:ext cx="10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621506" y="3295613"/>
            <a:ext cx="28444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Resolving method resolution order (MRO) in multiple inheritance.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28625" y="3684947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Syntax:</a:t>
            </a:r>
            <a:endParaRPr lang="en-US" sz="734" dirty="0"/>
          </a:p>
        </p:txBody>
      </p:sp>
      <p:sp>
        <p:nvSpPr>
          <p:cNvPr id="17" name="Shape 14"/>
          <p:cNvSpPr/>
          <p:nvPr/>
        </p:nvSpPr>
        <p:spPr>
          <a:xfrm>
            <a:off x="428625" y="3902832"/>
            <a:ext cx="4000500" cy="414338"/>
          </a:xfrm>
          <a:prstGeom prst="rect">
            <a:avLst/>
          </a:prstGeom>
          <a:solidFill>
            <a:srgbClr val="1E1E1E">
              <a:alpha val="70000"/>
            </a:srgbClr>
          </a:solidFill>
          <a:ln w="9144">
            <a:solidFill>
              <a:srgbClr val="569C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902832"/>
            <a:ext cx="4000500" cy="41433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super().__init__(parent_args)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 super().method_name(args)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714875" y="1412565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DCDCAA"/>
                </a:solidFill>
              </a:rPr>
              <a:t>Python Code Example:</a:t>
            </a:r>
            <a:endParaRPr lang="en-US" sz="734" dirty="0"/>
          </a:p>
        </p:txBody>
      </p:sp>
      <p:sp>
        <p:nvSpPr>
          <p:cNvPr id="20" name="Shape 17"/>
          <p:cNvSpPr/>
          <p:nvPr/>
        </p:nvSpPr>
        <p:spPr>
          <a:xfrm>
            <a:off x="4714875" y="1644737"/>
            <a:ext cx="4000500" cy="3297064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1737606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050631" y="1737606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Parent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800600" y="1879029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5050631" y="1879029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name):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800600" y="2020453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3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5050631" y="2020453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.name = name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800600" y="2161877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4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5050631" y="2161877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"Parent initialized."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800600" y="230330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5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4800600" y="2444725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6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5050631" y="2444725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greet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800600" y="2586149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7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5050631" y="2586149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f"Hello, {self.name}"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4800600" y="2727573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8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4800600" y="2868997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9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5050631" y="2868997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Child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Parent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4800600" y="301042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10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5050631" y="3010421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name, age):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4800600" y="3151845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11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5228946" y="3153631"/>
            <a:ext cx="132240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Calls Parent.__init__(self, name)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4800600" y="3293269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12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5050631" y="3293269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super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().__init__(name)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4800600" y="3434693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13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5050631" y="3434693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.age = age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4800600" y="3576117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14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5050631" y="3576117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"Child initialized."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4800600" y="371754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15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4800600" y="3858964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16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5050631" y="3858964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greet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50" name="Text 47"/>
          <p:cNvSpPr/>
          <p:nvPr/>
        </p:nvSpPr>
        <p:spPr>
          <a:xfrm>
            <a:off x="4800600" y="4000388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17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5228946" y="4002174"/>
            <a:ext cx="13597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Call parent's greet and extend it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4800600" y="414181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18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5050631" y="4141812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parent_greeting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super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greet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4800600" y="4283236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19</a:t>
            </a: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5050631" y="4283236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f"{parent_greeting}, age {self.age}"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4800600" y="442466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20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4800600" y="4566084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21</a:t>
            </a:r>
            <a:endParaRPr lang="en-US" sz="621" dirty="0"/>
          </a:p>
        </p:txBody>
      </p:sp>
      <p:sp>
        <p:nvSpPr>
          <p:cNvPr id="58" name="Text 55"/>
          <p:cNvSpPr/>
          <p:nvPr/>
        </p:nvSpPr>
        <p:spPr>
          <a:xfrm>
            <a:off x="5050631" y="4566084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Child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"Alice"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10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59" name="Text 56"/>
          <p:cNvSpPr/>
          <p:nvPr/>
        </p:nvSpPr>
        <p:spPr>
          <a:xfrm>
            <a:off x="4800600" y="4707508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22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5050631" y="4707508"/>
            <a:ext cx="35790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(c.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greet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())</a:t>
            </a:r>
            <a:endParaRPr lang="en-US" sz="62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Magic (Dunder) Methods: Python's Protocol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996553"/>
            <a:ext cx="8286750" cy="434318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96553"/>
            <a:ext cx="28575" cy="43431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996553"/>
            <a:ext cx="8286750" cy="43431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Definition: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Magic Methods (or Dunder Methods, short for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D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ouble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D4D4D4"/>
                </a:solidFill>
              </a:rPr>
              <a:t>Under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score) are special methods in Python that allow you to define how your objects interact with built-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in operations and functions (e.g., `+`, `len()`, `print()`). They enable your objects to conform to Python's protocols.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28625" y="1516596"/>
            <a:ext cx="8286750" cy="1605558"/>
          </a:xfrm>
          <a:prstGeom prst="rect">
            <a:avLst/>
          </a:prstGeom>
          <a:solidFill>
            <a:srgbClr val="569CD6">
              <a:alpha val="5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516596"/>
            <a:ext cx="2339076" cy="248245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750554"/>
            <a:ext cx="2339076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516596"/>
            <a:ext cx="2339076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EC9B0"/>
                </a:solidFill>
              </a:rPr>
              <a:t>Dunder Method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2767701" y="1516596"/>
            <a:ext cx="5947674" cy="248245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12" name="Shape 9"/>
          <p:cNvSpPr/>
          <p:nvPr/>
        </p:nvSpPr>
        <p:spPr>
          <a:xfrm>
            <a:off x="2767701" y="1750554"/>
            <a:ext cx="5947674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3" name="Text 10"/>
          <p:cNvSpPr/>
          <p:nvPr/>
        </p:nvSpPr>
        <p:spPr>
          <a:xfrm>
            <a:off x="2767701" y="1516596"/>
            <a:ext cx="5947674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EC9B0"/>
                </a:solidFill>
              </a:rPr>
              <a:t>Purpose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514350" y="1805918"/>
            <a:ext cx="2867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__init__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2767701" y="1757697"/>
            <a:ext cx="5947674" cy="21788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Constructor method called when an object is created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514350" y="2027374"/>
            <a:ext cx="2596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__str__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2767701" y="1975582"/>
            <a:ext cx="5947674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String representation for users (used by print())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14350" y="2248830"/>
            <a:ext cx="3219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__repr__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2767701" y="2197038"/>
            <a:ext cx="5947674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String representation for developers (used by repr())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14350" y="2470286"/>
            <a:ext cx="2740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__len__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2767701" y="2418494"/>
            <a:ext cx="5947674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Defines behavior for the len() function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514350" y="2691743"/>
            <a:ext cx="3012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__add__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2767701" y="2639950"/>
            <a:ext cx="5947674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Defines behavior for the + operator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514350" y="2913199"/>
            <a:ext cx="2458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__eq__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2767701" y="2861407"/>
            <a:ext cx="5947674" cy="21788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Defines behavior for the == operator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28625" y="3222166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Python Code Example (`__str__` and `__add__`):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428625" y="3400760"/>
            <a:ext cx="8286750" cy="1428750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3486485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764381" y="3486485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Vector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: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514350" y="3627909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2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764381" y="3627909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x, y):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514350" y="3769333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3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764381" y="3769333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.x = x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514350" y="3910757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4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764381" y="3910757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.y = y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514350" y="4052181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5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514350" y="4193604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6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853539" y="4195390"/>
            <a:ext cx="14023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Defines how the object is printed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514350" y="4335028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7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764381" y="4335028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__str__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):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514350" y="447645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8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764381" y="4476452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f"Vector({self.x}, {self.y})"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514350" y="4617876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9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514350" y="475930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10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853539" y="4761086"/>
            <a:ext cx="16578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Defines the behavior of the '+' operator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514350" y="4900724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11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764381" y="4900724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__add__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other):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514350" y="5042148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12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764381" y="5042148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Vector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.x + other.x,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.y + other.y)</a:t>
            </a:r>
            <a:endParaRPr lang="en-US" sz="621" dirty="0"/>
          </a:p>
        </p:txBody>
      </p:sp>
      <p:sp>
        <p:nvSpPr>
          <p:cNvPr id="50" name="Text 47"/>
          <p:cNvSpPr/>
          <p:nvPr/>
        </p:nvSpPr>
        <p:spPr>
          <a:xfrm>
            <a:off x="514350" y="518357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13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514350" y="5324996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14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764381" y="5324996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v1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Vector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2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3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514350" y="5466420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15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764381" y="5466420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v2 =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CDCAA"/>
                </a:solidFill>
              </a:rPr>
              <a:t>Vector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5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E9178"/>
                </a:solidFill>
              </a:rPr>
              <a:t>7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)</a:t>
            </a: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514350" y="5607844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16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764381" y="5607844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v3 = v1 + v2 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Calls v1.__add__(v2)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514350" y="5749268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17</a:t>
            </a:r>
            <a:endParaRPr lang="en-US" sz="621" dirty="0"/>
          </a:p>
        </p:txBody>
      </p:sp>
      <p:sp>
        <p:nvSpPr>
          <p:cNvPr id="58" name="Text 55"/>
          <p:cNvSpPr/>
          <p:nvPr/>
        </p:nvSpPr>
        <p:spPr>
          <a:xfrm>
            <a:off x="764381" y="5749268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(v1) 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Output: Vector(2, 3)</a:t>
            </a:r>
            <a:endParaRPr lang="en-US" sz="621" dirty="0"/>
          </a:p>
        </p:txBody>
      </p:sp>
      <p:sp>
        <p:nvSpPr>
          <p:cNvPr id="59" name="Text 56"/>
          <p:cNvSpPr/>
          <p:nvPr/>
        </p:nvSpPr>
        <p:spPr>
          <a:xfrm>
            <a:off x="514350" y="5890692"/>
            <a:ext cx="1785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858585"/>
                </a:solidFill>
              </a:rPr>
              <a:t>18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764381" y="5890692"/>
            <a:ext cx="78652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(v3) 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A9955"/>
                </a:solidFill>
              </a:rPr>
              <a:t># Output: Vector(7, 10)</a:t>
            </a:r>
            <a:endParaRPr lang="en-US" sz="62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2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Design Patterns: Composition vs. Inheritance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146572"/>
            <a:ext cx="4086225" cy="2241352"/>
          </a:xfrm>
          <a:prstGeom prst="rect">
            <a:avLst/>
          </a:prstGeom>
          <a:solidFill>
            <a:srgbClr val="569CD6">
              <a:alpha val="5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146572"/>
            <a:ext cx="751573" cy="305395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437680"/>
            <a:ext cx="751573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46572"/>
            <a:ext cx="751573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EC9B0"/>
                </a:solidFill>
              </a:rPr>
              <a:t>Aspect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1180198" y="1146572"/>
            <a:ext cx="1783426" cy="305395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9" name="Shape 6"/>
          <p:cNvSpPr/>
          <p:nvPr/>
        </p:nvSpPr>
        <p:spPr>
          <a:xfrm>
            <a:off x="1180198" y="1437680"/>
            <a:ext cx="1783426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7"/>
          <p:cNvSpPr/>
          <p:nvPr/>
        </p:nvSpPr>
        <p:spPr>
          <a:xfrm>
            <a:off x="1180198" y="1146572"/>
            <a:ext cx="1783426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EC9B0"/>
                </a:solidFill>
              </a:rPr>
              <a:t>Composition (Has-A)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2963624" y="1146572"/>
            <a:ext cx="1551226" cy="305395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12" name="Shape 9"/>
          <p:cNvSpPr/>
          <p:nvPr/>
        </p:nvSpPr>
        <p:spPr>
          <a:xfrm>
            <a:off x="2963624" y="1437680"/>
            <a:ext cx="1551226" cy="142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3" name="Text 10"/>
          <p:cNvSpPr/>
          <p:nvPr/>
        </p:nvSpPr>
        <p:spPr>
          <a:xfrm>
            <a:off x="2963624" y="1146572"/>
            <a:ext cx="1551226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EC9B0"/>
                </a:solidFill>
              </a:rPr>
              <a:t>Inheritance (Is-A)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535781" y="1585913"/>
            <a:ext cx="5372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Relationship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1180198" y="1444823"/>
            <a:ext cx="1783426" cy="403622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Object contains another object as a member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2963624" y="1444823"/>
            <a:ext cx="1551226" cy="403622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Class extends another class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35781" y="1993106"/>
            <a:ext cx="4165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Flexibility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1180198" y="1848445"/>
            <a:ext cx="1783426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High - can change components at runtime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2963624" y="1848445"/>
            <a:ext cx="1551226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Low - hierarchy is fixed at design time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35781" y="2400300"/>
            <a:ext cx="4766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Reusability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1180198" y="2255639"/>
            <a:ext cx="1783426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Components are independent and reusable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2963624" y="2255639"/>
            <a:ext cx="1551226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Code reuse through hierarchy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535781" y="2743200"/>
            <a:ext cx="4829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Complexity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1180198" y="2662833"/>
            <a:ext cx="1783426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Simpler for complex scenarios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2963624" y="2662833"/>
            <a:ext cx="1551226" cy="27860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Can lead to deep hierarchies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535781" y="3086100"/>
            <a:ext cx="3494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Best For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1180198" y="2941439"/>
            <a:ext cx="1783426" cy="403622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Building complex objects from simpler parts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2963624" y="2941439"/>
            <a:ext cx="1551226" cy="403622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Clear "is-a" relationships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28625" y="3473648"/>
            <a:ext cx="4086225" cy="1242901"/>
          </a:xfrm>
          <a:prstGeom prst="rect">
            <a:avLst/>
          </a:prstGeom>
          <a:solidFill>
            <a:srgbClr val="DCDCAA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3473648"/>
            <a:ext cx="28575" cy="1242901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1" name="Text 28"/>
          <p:cNvSpPr/>
          <p:nvPr/>
        </p:nvSpPr>
        <p:spPr>
          <a:xfrm>
            <a:off x="557213" y="3580805"/>
            <a:ext cx="38290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When to Prefer Composition: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557213" y="3786522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735806" y="3786522"/>
            <a:ext cx="247349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Avoid deep inheritance hierarchies (more than 2-3 levels)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557213" y="3992240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735806" y="3992240"/>
            <a:ext cx="199754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Need flexibility to change behavior at runtime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557213" y="4197958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735806" y="4197958"/>
            <a:ext cx="245594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Multiple inheritance scenarios (use composition instead)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557213" y="4403675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735806" y="4403675"/>
            <a:ext cx="251953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Building complex systems from independent components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4629150" y="1146572"/>
            <a:ext cx="4086225" cy="4086225"/>
          </a:xfrm>
          <a:prstGeom prst="rect">
            <a:avLst/>
          </a:prstGeom>
          <a:solidFill>
            <a:srgbClr val="1E1E1E">
              <a:alpha val="50000"/>
            </a:srgbClr>
          </a:solidFill>
          <a:ln w="18288">
            <a:solidFill>
              <a:srgbClr val="569CD6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146572"/>
            <a:ext cx="4086225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4EC9B0"/>
                </a:solidFill>
              </a:rPr>
              <a:t>Writing Clean and Effective OOP Code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103709"/>
            <a:ext cx="4100513" cy="1338951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8638" y="1203722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1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28638" y="1382316"/>
            <a:ext cx="39004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Favor Composition over Inheritance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28638" y="1599474"/>
            <a:ext cx="39004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Prefer composition to assemble objects from smaller parts. Use inheritance only for clear "is‑a" cases to stay flexible and avoid deep hierarchies.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528638" y="1953760"/>
            <a:ext cx="3900488" cy="242888"/>
          </a:xfrm>
          <a:prstGeom prst="rect">
            <a:avLst/>
          </a:prstGeom>
          <a:solidFill>
            <a:srgbClr val="1E1E1E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28638" y="1953760"/>
            <a:ext cx="14288" cy="24288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0" name="Text 7"/>
          <p:cNvSpPr/>
          <p:nvPr/>
        </p:nvSpPr>
        <p:spPr>
          <a:xfrm>
            <a:off x="528638" y="1953760"/>
            <a:ext cx="3900488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Car has‑a Engine (composition) vs. Car is‑a Vehicle (inheritance)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614863" y="1103709"/>
            <a:ext cx="4100513" cy="1338951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14875" y="1203722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2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714875" y="1382316"/>
            <a:ext cx="39004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Use Properties for Encapsulation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714875" y="1599474"/>
            <a:ext cx="39004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Use @property for controlled access to attributes. Keep internals private while enabling validation when needed.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4714875" y="1953760"/>
            <a:ext cx="3900488" cy="242888"/>
          </a:xfrm>
          <a:prstGeom prst="rect">
            <a:avLst/>
          </a:prstGeom>
          <a:solidFill>
            <a:srgbClr val="1E1E1E">
              <a:alpha val="7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1953760"/>
            <a:ext cx="14288" cy="24288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1953760"/>
            <a:ext cx="3900488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@property def age(self): return self._age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428625" y="2509354"/>
            <a:ext cx="4100513" cy="1348494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8638" y="2609366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3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28638" y="2787960"/>
            <a:ext cx="39004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Follow PEP 8 Naming Conventions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28638" y="3005119"/>
            <a:ext cx="39004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Use CamelCase for classes and snake_case for methods/attributes. Consistent naming improves readability and collaboration.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528638" y="3359404"/>
            <a:ext cx="3900488" cy="242888"/>
          </a:xfrm>
          <a:prstGeom prst="rect">
            <a:avLst/>
          </a:prstGeom>
          <a:solidFill>
            <a:srgbClr val="1E1E1E">
              <a:alpha val="7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28638" y="3359404"/>
            <a:ext cx="14288" cy="24288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4" name="Text 21"/>
          <p:cNvSpPr/>
          <p:nvPr/>
        </p:nvSpPr>
        <p:spPr>
          <a:xfrm>
            <a:off x="528638" y="3359404"/>
            <a:ext cx="3900488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class MyClass: def my_method(self): pass</a:t>
            </a:r>
            <a:endParaRPr lang="en-US" sz="584" dirty="0"/>
          </a:p>
        </p:txBody>
      </p:sp>
      <p:sp>
        <p:nvSpPr>
          <p:cNvPr id="25" name="Shape 22"/>
          <p:cNvSpPr/>
          <p:nvPr/>
        </p:nvSpPr>
        <p:spPr>
          <a:xfrm>
            <a:off x="4614863" y="2509354"/>
            <a:ext cx="4100513" cy="1348494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4875" y="2618882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4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714875" y="2797476"/>
            <a:ext cx="39004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Single Responsibility Principle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714875" y="3014635"/>
            <a:ext cx="39004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Give each class one responsibility and one reason to change. Focused classes are easier to test, maintain, and extend.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4714875" y="3368920"/>
            <a:ext cx="3900488" cy="242888"/>
          </a:xfrm>
          <a:prstGeom prst="rect">
            <a:avLst/>
          </a:prstGeom>
          <a:solidFill>
            <a:srgbClr val="1E1E1E">
              <a:alpha val="7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714875" y="3368920"/>
            <a:ext cx="14288" cy="24288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1" name="Text 28"/>
          <p:cNvSpPr/>
          <p:nvPr/>
        </p:nvSpPr>
        <p:spPr>
          <a:xfrm>
            <a:off x="4714875" y="3368920"/>
            <a:ext cx="3900488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User class handles user data; UserRepository handles persistence</a:t>
            </a:r>
            <a:endParaRPr lang="en-US" sz="584" dirty="0"/>
          </a:p>
        </p:txBody>
      </p:sp>
      <p:sp>
        <p:nvSpPr>
          <p:cNvPr id="32" name="Shape 29"/>
          <p:cNvSpPr/>
          <p:nvPr/>
        </p:nvSpPr>
        <p:spPr>
          <a:xfrm>
            <a:off x="428625" y="3934030"/>
            <a:ext cx="8286750" cy="1209470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8638" y="4053101"/>
            <a:ext cx="80867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5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528638" y="4231695"/>
            <a:ext cx="80867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Document Everything with Docstrings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528638" y="4448854"/>
            <a:ext cx="80867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Write docstrings for classes, methods, and modules: purpose, params, returns, usage (PEP 257).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528638" y="4654572"/>
            <a:ext cx="8086725" cy="242888"/>
          </a:xfrm>
          <a:prstGeom prst="rect">
            <a:avLst/>
          </a:prstGeom>
          <a:solidFill>
            <a:srgbClr val="1E1E1E">
              <a:alpha val="7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28638" y="4654572"/>
            <a:ext cx="14288" cy="24288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8" name="Text 35"/>
          <p:cNvSpPr/>
          <p:nvPr/>
        </p:nvSpPr>
        <p:spPr>
          <a:xfrm>
            <a:off x="528638" y="4654572"/>
            <a:ext cx="8086725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CDCAA"/>
                </a:solidFill>
              </a:rPr>
              <a:t>"""Add two numbers. Args: a, b. Returns: sum."""</a:t>
            </a:r>
            <a:endParaRPr lang="en-US" sz="58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Demonstration: A Simple Library System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09055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DCDCAA"/>
                </a:solidFill>
              </a:rPr>
              <a:t>Project Goal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571500" y="1226939"/>
            <a:ext cx="8001000" cy="450056"/>
          </a:xfrm>
          <a:prstGeom prst="rect">
            <a:avLst/>
          </a:prstGeom>
          <a:solidFill>
            <a:srgbClr val="5ECDB0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226939"/>
            <a:ext cx="28575" cy="45005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226939"/>
            <a:ext cx="8001000" cy="450056"/>
          </a:xfrm>
          <a:prstGeom prst="rect">
            <a:avLst/>
          </a:prstGeom>
          <a:noFill/>
          <a:ln/>
        </p:spPr>
        <p:txBody>
          <a:bodyPr wrap="square" lIns="170053" tIns="51054" rIns="170053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D4D4D4"/>
                </a:solidFill>
              </a:rPr>
              <a:t>Create a class-based system to manage books and a library collection. This mini-project demonstrates how to use OOP principles to build a practical, real-world application that manages books, tracks availability, and allows borrowing and returning operations.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71500" y="1748433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DCDCAA"/>
                </a:solidFill>
              </a:rPr>
              <a:t>Class Structure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71500" y="1966317"/>
            <a:ext cx="3929063" cy="1021110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009180"/>
            <a:ext cx="3700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Book Class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85800" y="2207419"/>
            <a:ext cx="370046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Attributes: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685800" y="2370274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864394" y="2370274"/>
            <a:ext cx="199631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title, author, isbn; is_available (status tracking)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685800" y="2561704"/>
            <a:ext cx="370046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Methods: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685800" y="2724559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864394" y="2724559"/>
            <a:ext cx="216505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__str__() (dunder method), borrow(), return_book()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643438" y="1966317"/>
            <a:ext cx="3929063" cy="1021110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7738" y="2009180"/>
            <a:ext cx="3700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Library Class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57738" y="2207419"/>
            <a:ext cx="370046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Attributes: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757738" y="2370274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936331" y="2370274"/>
            <a:ext cx="2612882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books (list of Book objects); composition (has-a relationship)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4757738" y="2561704"/>
            <a:ext cx="370046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Methods: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757738" y="2724559"/>
            <a:ext cx="107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•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936331" y="2724559"/>
            <a:ext cx="197943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add_book(), find_book(), list_available_books()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71500" y="3030289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DCDCAA"/>
                </a:solidFill>
              </a:rPr>
              <a:t>Key Principles Demonstrated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571500" y="3248174"/>
            <a:ext cx="8001000" cy="957207"/>
          </a:xfrm>
          <a:prstGeom prst="rect">
            <a:avLst/>
          </a:prstGeom>
          <a:solidFill>
            <a:srgbClr val="CE9178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3248174"/>
            <a:ext cx="28575" cy="957207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8" name="Text 25"/>
          <p:cNvSpPr/>
          <p:nvPr/>
        </p:nvSpPr>
        <p:spPr>
          <a:xfrm>
            <a:off x="714375" y="3305324"/>
            <a:ext cx="142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942975" y="330532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Encapsulation: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The Book class encapsulates book data (title, author, isbn)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and provides methods to interact with it (borrow, return_book).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643438" y="3305324"/>
            <a:ext cx="142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872038" y="330532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Composition: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The Library class demonstrates composition by containing a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collection of Book objects, showing a "has-a" relationship.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714375" y="3668204"/>
            <a:ext cx="142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942975" y="3668204"/>
            <a:ext cx="355758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Dunder Methods: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The Book class uses __str__() to provide a user-friendly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string representation of book information.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643438" y="3668204"/>
            <a:ext cx="142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872038" y="3668204"/>
            <a:ext cx="355758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569CD6"/>
                </a:solidFill>
              </a:rPr>
              <a:t>Real-World Application: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This system demonstrates how OOP concepts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translate into practical, maintainable code for managing data and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operations.</a:t>
            </a:r>
            <a:endParaRPr lang="en-US" sz="68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09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Mini Project: The `Book` Class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037630"/>
            <a:ext cx="8001000" cy="491468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37630"/>
            <a:ext cx="28575" cy="49146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037630"/>
            <a:ext cx="8001000" cy="491468"/>
          </a:xfrm>
          <a:prstGeom prst="rect">
            <a:avLst/>
          </a:prstGeom>
          <a:noFill/>
          <a:ln/>
        </p:spPr>
        <p:txBody>
          <a:bodyPr wrap="square" lIns="153035" tIns="102108" rIns="153035" bIns="1021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The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class represents a single book in the library system. It encapsulates book information (title, author, ISBN) and tracks availability status. It includes a dunder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method for string representation and methods for borrowing and returning books.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571500" y="1671972"/>
            <a:ext cx="8001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CDCAA"/>
                </a:solidFill>
              </a:rPr>
              <a:t>Complete Book Class Implementation: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571500" y="1893429"/>
            <a:ext cx="8001000" cy="3307556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7225" y="197915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</a:t>
            </a:r>
            <a:endParaRPr lang="en-US" sz="568" dirty="0"/>
          </a:p>
        </p:txBody>
      </p:sp>
      <p:sp>
        <p:nvSpPr>
          <p:cNvPr id="10" name="Text 7"/>
          <p:cNvSpPr/>
          <p:nvPr/>
        </p:nvSpPr>
        <p:spPr>
          <a:xfrm>
            <a:off x="942975" y="197915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:</a:t>
            </a:r>
            <a:endParaRPr lang="en-US" sz="568" dirty="0"/>
          </a:p>
        </p:txBody>
      </p:sp>
      <p:sp>
        <p:nvSpPr>
          <p:cNvPr id="11" name="Text 8"/>
          <p:cNvSpPr/>
          <p:nvPr/>
        </p:nvSpPr>
        <p:spPr>
          <a:xfrm>
            <a:off x="657225" y="210344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</a:t>
            </a:r>
            <a:endParaRPr lang="en-US" sz="568" dirty="0"/>
          </a:p>
        </p:txBody>
      </p:sp>
      <p:sp>
        <p:nvSpPr>
          <p:cNvPr id="12" name="Text 9"/>
          <p:cNvSpPr/>
          <p:nvPr/>
        </p:nvSpPr>
        <p:spPr>
          <a:xfrm>
            <a:off x="942975" y="210344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, title, author, isbn):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657225" y="222773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3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942975" y="222773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.title = title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657225" y="235202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4</a:t>
            </a:r>
            <a:endParaRPr lang="en-US" sz="568" dirty="0"/>
          </a:p>
        </p:txBody>
      </p:sp>
      <p:sp>
        <p:nvSpPr>
          <p:cNvPr id="16" name="Text 13"/>
          <p:cNvSpPr/>
          <p:nvPr/>
        </p:nvSpPr>
        <p:spPr>
          <a:xfrm>
            <a:off x="942975" y="235202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.author = author</a:t>
            </a:r>
            <a:endParaRPr lang="en-US" sz="568" dirty="0"/>
          </a:p>
        </p:txBody>
      </p:sp>
      <p:sp>
        <p:nvSpPr>
          <p:cNvPr id="17" name="Text 14"/>
          <p:cNvSpPr/>
          <p:nvPr/>
        </p:nvSpPr>
        <p:spPr>
          <a:xfrm>
            <a:off x="657225" y="247631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5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942975" y="247631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.isbn = isbn</a:t>
            </a:r>
            <a:endParaRPr lang="en-US" sz="568" dirty="0"/>
          </a:p>
        </p:txBody>
      </p:sp>
      <p:sp>
        <p:nvSpPr>
          <p:cNvPr id="19" name="Text 16"/>
          <p:cNvSpPr/>
          <p:nvPr/>
        </p:nvSpPr>
        <p:spPr>
          <a:xfrm>
            <a:off x="657225" y="260060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6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942975" y="260060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.is_available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True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Track availability</a:t>
            </a:r>
            <a:endParaRPr lang="en-US" sz="568" dirty="0"/>
          </a:p>
        </p:txBody>
      </p:sp>
      <p:sp>
        <p:nvSpPr>
          <p:cNvPr id="21" name="Text 18"/>
          <p:cNvSpPr/>
          <p:nvPr/>
        </p:nvSpPr>
        <p:spPr>
          <a:xfrm>
            <a:off x="657225" y="272489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7</a:t>
            </a:r>
            <a:endParaRPr lang="en-US" sz="568" dirty="0"/>
          </a:p>
        </p:txBody>
      </p:sp>
      <p:sp>
        <p:nvSpPr>
          <p:cNvPr id="22" name="Text 19"/>
          <p:cNvSpPr/>
          <p:nvPr/>
        </p:nvSpPr>
        <p:spPr>
          <a:xfrm>
            <a:off x="657225" y="284918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8</a:t>
            </a:r>
            <a:endParaRPr lang="en-US" sz="568" dirty="0"/>
          </a:p>
        </p:txBody>
      </p:sp>
      <p:sp>
        <p:nvSpPr>
          <p:cNvPr id="23" name="Text 20"/>
          <p:cNvSpPr/>
          <p:nvPr/>
        </p:nvSpPr>
        <p:spPr>
          <a:xfrm>
            <a:off x="942975" y="284918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__str__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):</a:t>
            </a:r>
            <a:endParaRPr lang="en-US" sz="568" dirty="0"/>
          </a:p>
        </p:txBody>
      </p:sp>
      <p:sp>
        <p:nvSpPr>
          <p:cNvPr id="24" name="Text 21"/>
          <p:cNvSpPr/>
          <p:nvPr/>
        </p:nvSpPr>
        <p:spPr>
          <a:xfrm>
            <a:off x="657225" y="297347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9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1106444" y="2973474"/>
            <a:ext cx="15922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Dunder method for string representation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657225" y="309776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10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942975" y="309776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status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"Available"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.is_available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else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"Borrowed"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657225" y="3222054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11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942975" y="3222054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f'"{self.title}" by {self.author} '</a:t>
            </a:r>
            <a:endParaRPr lang="en-US" sz="568" dirty="0"/>
          </a:p>
        </p:txBody>
      </p:sp>
      <p:sp>
        <p:nvSpPr>
          <p:cNvPr id="30" name="Text 27"/>
          <p:cNvSpPr/>
          <p:nvPr/>
        </p:nvSpPr>
        <p:spPr>
          <a:xfrm>
            <a:off x="657225" y="334634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12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1249459" y="3346345"/>
            <a:ext cx="105015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f'(ISBN: {self.isbn}) - {status}'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657225" y="347063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13</a:t>
            </a:r>
            <a:endParaRPr lang="en-US" sz="568" dirty="0"/>
          </a:p>
        </p:txBody>
      </p:sp>
      <p:sp>
        <p:nvSpPr>
          <p:cNvPr id="33" name="Text 30"/>
          <p:cNvSpPr/>
          <p:nvPr/>
        </p:nvSpPr>
        <p:spPr>
          <a:xfrm>
            <a:off x="657225" y="359492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14</a:t>
            </a:r>
            <a:endParaRPr lang="en-US" sz="568" dirty="0"/>
          </a:p>
        </p:txBody>
      </p:sp>
      <p:sp>
        <p:nvSpPr>
          <p:cNvPr id="34" name="Text 31"/>
          <p:cNvSpPr/>
          <p:nvPr/>
        </p:nvSpPr>
        <p:spPr>
          <a:xfrm>
            <a:off x="942975" y="3594925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borrow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):</a:t>
            </a:r>
            <a:endParaRPr lang="en-US" sz="568" dirty="0"/>
          </a:p>
        </p:txBody>
      </p:sp>
      <p:sp>
        <p:nvSpPr>
          <p:cNvPr id="35" name="Text 32"/>
          <p:cNvSpPr/>
          <p:nvPr/>
        </p:nvSpPr>
        <p:spPr>
          <a:xfrm>
            <a:off x="657225" y="371921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15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1106444" y="3719215"/>
            <a:ext cx="136275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Mark book as borrowed if available</a:t>
            </a:r>
            <a:endParaRPr lang="en-US" sz="568" dirty="0"/>
          </a:p>
        </p:txBody>
      </p:sp>
      <p:sp>
        <p:nvSpPr>
          <p:cNvPr id="37" name="Text 34"/>
          <p:cNvSpPr/>
          <p:nvPr/>
        </p:nvSpPr>
        <p:spPr>
          <a:xfrm>
            <a:off x="657225" y="384350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16</a:t>
            </a:r>
            <a:endParaRPr lang="en-US" sz="568" dirty="0"/>
          </a:p>
        </p:txBody>
      </p:sp>
      <p:sp>
        <p:nvSpPr>
          <p:cNvPr id="38" name="Text 35"/>
          <p:cNvSpPr/>
          <p:nvPr/>
        </p:nvSpPr>
        <p:spPr>
          <a:xfrm>
            <a:off x="942975" y="3843505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if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.is_available:</a:t>
            </a:r>
            <a:endParaRPr lang="en-US" sz="568" dirty="0"/>
          </a:p>
        </p:txBody>
      </p:sp>
      <p:sp>
        <p:nvSpPr>
          <p:cNvPr id="39" name="Text 36"/>
          <p:cNvSpPr/>
          <p:nvPr/>
        </p:nvSpPr>
        <p:spPr>
          <a:xfrm>
            <a:off x="657225" y="396779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17</a:t>
            </a:r>
            <a:endParaRPr lang="en-US" sz="568" dirty="0"/>
          </a:p>
        </p:txBody>
      </p:sp>
      <p:sp>
        <p:nvSpPr>
          <p:cNvPr id="40" name="Text 37"/>
          <p:cNvSpPr/>
          <p:nvPr/>
        </p:nvSpPr>
        <p:spPr>
          <a:xfrm>
            <a:off x="942975" y="3967795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.is_available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False</a:t>
            </a:r>
            <a:endParaRPr lang="en-US" sz="568" dirty="0"/>
          </a:p>
        </p:txBody>
      </p:sp>
      <p:sp>
        <p:nvSpPr>
          <p:cNvPr id="41" name="Text 38"/>
          <p:cNvSpPr/>
          <p:nvPr/>
        </p:nvSpPr>
        <p:spPr>
          <a:xfrm>
            <a:off x="657225" y="409208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18</a:t>
            </a:r>
            <a:endParaRPr lang="en-US" sz="568" dirty="0"/>
          </a:p>
        </p:txBody>
      </p:sp>
      <p:sp>
        <p:nvSpPr>
          <p:cNvPr id="42" name="Text 39"/>
          <p:cNvSpPr/>
          <p:nvPr/>
        </p:nvSpPr>
        <p:spPr>
          <a:xfrm>
            <a:off x="942975" y="4092085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True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657225" y="421637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19</a:t>
            </a:r>
            <a:endParaRPr lang="en-US" sz="568" dirty="0"/>
          </a:p>
        </p:txBody>
      </p:sp>
      <p:sp>
        <p:nvSpPr>
          <p:cNvPr id="44" name="Text 41"/>
          <p:cNvSpPr/>
          <p:nvPr/>
        </p:nvSpPr>
        <p:spPr>
          <a:xfrm>
            <a:off x="942975" y="4216375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False</a:t>
            </a:r>
            <a:endParaRPr lang="en-US" sz="568" dirty="0"/>
          </a:p>
        </p:txBody>
      </p:sp>
      <p:sp>
        <p:nvSpPr>
          <p:cNvPr id="45" name="Text 42"/>
          <p:cNvSpPr/>
          <p:nvPr/>
        </p:nvSpPr>
        <p:spPr>
          <a:xfrm>
            <a:off x="657225" y="434066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20</a:t>
            </a:r>
            <a:endParaRPr lang="en-US" sz="568" dirty="0"/>
          </a:p>
        </p:txBody>
      </p:sp>
      <p:sp>
        <p:nvSpPr>
          <p:cNvPr id="46" name="Text 43"/>
          <p:cNvSpPr/>
          <p:nvPr/>
        </p:nvSpPr>
        <p:spPr>
          <a:xfrm>
            <a:off x="657225" y="446495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21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942975" y="4464955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return_book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):</a:t>
            </a:r>
            <a:endParaRPr lang="en-US" sz="568" dirty="0"/>
          </a:p>
        </p:txBody>
      </p:sp>
      <p:sp>
        <p:nvSpPr>
          <p:cNvPr id="48" name="Text 45"/>
          <p:cNvSpPr/>
          <p:nvPr/>
        </p:nvSpPr>
        <p:spPr>
          <a:xfrm>
            <a:off x="657225" y="4589245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22</a:t>
            </a:r>
            <a:endParaRPr lang="en-US" sz="568" dirty="0"/>
          </a:p>
        </p:txBody>
      </p:sp>
      <p:sp>
        <p:nvSpPr>
          <p:cNvPr id="49" name="Text 46"/>
          <p:cNvSpPr/>
          <p:nvPr/>
        </p:nvSpPr>
        <p:spPr>
          <a:xfrm>
            <a:off x="1106444" y="4589245"/>
            <a:ext cx="15341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Mark book as returned (available again)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657225" y="471353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23</a:t>
            </a:r>
            <a:endParaRPr lang="en-US" sz="568" dirty="0"/>
          </a:p>
        </p:txBody>
      </p:sp>
      <p:sp>
        <p:nvSpPr>
          <p:cNvPr id="51" name="Text 48"/>
          <p:cNvSpPr/>
          <p:nvPr/>
        </p:nvSpPr>
        <p:spPr>
          <a:xfrm>
            <a:off x="942975" y="471353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.is_available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True</a:t>
            </a:r>
            <a:endParaRPr lang="en-US" sz="568" dirty="0"/>
          </a:p>
        </p:txBody>
      </p:sp>
      <p:sp>
        <p:nvSpPr>
          <p:cNvPr id="52" name="Text 49"/>
          <p:cNvSpPr/>
          <p:nvPr/>
        </p:nvSpPr>
        <p:spPr>
          <a:xfrm>
            <a:off x="657225" y="483782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24</a:t>
            </a:r>
            <a:endParaRPr lang="en-US" sz="568" dirty="0"/>
          </a:p>
        </p:txBody>
      </p:sp>
      <p:sp>
        <p:nvSpPr>
          <p:cNvPr id="53" name="Text 50"/>
          <p:cNvSpPr/>
          <p:nvPr/>
        </p:nvSpPr>
        <p:spPr>
          <a:xfrm>
            <a:off x="942975" y="483782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True</a:t>
            </a:r>
            <a:endParaRPr lang="en-US" sz="568" dirty="0"/>
          </a:p>
        </p:txBody>
      </p:sp>
      <p:sp>
        <p:nvSpPr>
          <p:cNvPr id="54" name="Text 51"/>
          <p:cNvSpPr/>
          <p:nvPr/>
        </p:nvSpPr>
        <p:spPr>
          <a:xfrm>
            <a:off x="657225" y="496211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25</a:t>
            </a:r>
            <a:endParaRPr lang="en-US" sz="568" dirty="0"/>
          </a:p>
        </p:txBody>
      </p:sp>
      <p:sp>
        <p:nvSpPr>
          <p:cNvPr id="55" name="Text 52"/>
          <p:cNvSpPr/>
          <p:nvPr/>
        </p:nvSpPr>
        <p:spPr>
          <a:xfrm>
            <a:off x="657225" y="508640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26</a:t>
            </a:r>
            <a:endParaRPr lang="en-US" sz="568" dirty="0"/>
          </a:p>
        </p:txBody>
      </p:sp>
      <p:sp>
        <p:nvSpPr>
          <p:cNvPr id="56" name="Text 53"/>
          <p:cNvSpPr/>
          <p:nvPr/>
        </p:nvSpPr>
        <p:spPr>
          <a:xfrm>
            <a:off x="942975" y="5086406"/>
            <a:ext cx="660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Example Usage:</a:t>
            </a:r>
            <a:endParaRPr lang="en-US" sz="568" dirty="0"/>
          </a:p>
        </p:txBody>
      </p:sp>
      <p:sp>
        <p:nvSpPr>
          <p:cNvPr id="57" name="Text 54"/>
          <p:cNvSpPr/>
          <p:nvPr/>
        </p:nvSpPr>
        <p:spPr>
          <a:xfrm>
            <a:off x="657225" y="521069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27</a:t>
            </a:r>
            <a:endParaRPr lang="en-US" sz="568" dirty="0"/>
          </a:p>
        </p:txBody>
      </p:sp>
      <p:sp>
        <p:nvSpPr>
          <p:cNvPr id="58" name="Text 55"/>
          <p:cNvSpPr/>
          <p:nvPr/>
        </p:nvSpPr>
        <p:spPr>
          <a:xfrm>
            <a:off x="942975" y="521069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book1 =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"1984"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"George Orwell"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E9178"/>
                </a:solidFill>
              </a:rPr>
              <a:t>"978-0451524935"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)</a:t>
            </a:r>
            <a:endParaRPr lang="en-US" sz="568" dirty="0"/>
          </a:p>
        </p:txBody>
      </p:sp>
      <p:sp>
        <p:nvSpPr>
          <p:cNvPr id="59" name="Text 56"/>
          <p:cNvSpPr/>
          <p:nvPr/>
        </p:nvSpPr>
        <p:spPr>
          <a:xfrm>
            <a:off x="657225" y="533498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28</a:t>
            </a:r>
            <a:endParaRPr lang="en-US" sz="568" dirty="0"/>
          </a:p>
        </p:txBody>
      </p:sp>
      <p:sp>
        <p:nvSpPr>
          <p:cNvPr id="60" name="Text 57"/>
          <p:cNvSpPr/>
          <p:nvPr/>
        </p:nvSpPr>
        <p:spPr>
          <a:xfrm>
            <a:off x="942975" y="533498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(book1) 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Output: "1984" by George Orwell (ISBN: 978-0451524935) - Available</a:t>
            </a:r>
            <a:endParaRPr lang="en-US" sz="568" dirty="0"/>
          </a:p>
        </p:txBody>
      </p:sp>
      <p:sp>
        <p:nvSpPr>
          <p:cNvPr id="61" name="Text 58"/>
          <p:cNvSpPr/>
          <p:nvPr/>
        </p:nvSpPr>
        <p:spPr>
          <a:xfrm>
            <a:off x="657225" y="545927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29</a:t>
            </a:r>
            <a:endParaRPr lang="en-US" sz="568" dirty="0"/>
          </a:p>
        </p:txBody>
      </p:sp>
      <p:sp>
        <p:nvSpPr>
          <p:cNvPr id="62" name="Text 59"/>
          <p:cNvSpPr/>
          <p:nvPr/>
        </p:nvSpPr>
        <p:spPr>
          <a:xfrm>
            <a:off x="942975" y="545927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book1.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borrow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()</a:t>
            </a:r>
            <a:endParaRPr lang="en-US" sz="568" dirty="0"/>
          </a:p>
        </p:txBody>
      </p:sp>
      <p:sp>
        <p:nvSpPr>
          <p:cNvPr id="63" name="Text 60"/>
          <p:cNvSpPr/>
          <p:nvPr/>
        </p:nvSpPr>
        <p:spPr>
          <a:xfrm>
            <a:off x="657225" y="558356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30</a:t>
            </a:r>
            <a:endParaRPr lang="en-US" sz="568" dirty="0"/>
          </a:p>
        </p:txBody>
      </p:sp>
      <p:sp>
        <p:nvSpPr>
          <p:cNvPr id="64" name="Text 61"/>
          <p:cNvSpPr/>
          <p:nvPr/>
        </p:nvSpPr>
        <p:spPr>
          <a:xfrm>
            <a:off x="942975" y="558356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(book1) 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Output: "1984" by George Orwell (ISBN: 978-0451524935) - Borrowed</a:t>
            </a:r>
            <a:endParaRPr lang="en-US" sz="568" dirty="0"/>
          </a:p>
        </p:txBody>
      </p:sp>
      <p:sp>
        <p:nvSpPr>
          <p:cNvPr id="65" name="Text 62"/>
          <p:cNvSpPr/>
          <p:nvPr/>
        </p:nvSpPr>
        <p:spPr>
          <a:xfrm>
            <a:off x="657225" y="570785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31</a:t>
            </a:r>
            <a:endParaRPr lang="en-US" sz="568" dirty="0"/>
          </a:p>
        </p:txBody>
      </p:sp>
      <p:sp>
        <p:nvSpPr>
          <p:cNvPr id="66" name="Text 63"/>
          <p:cNvSpPr/>
          <p:nvPr/>
        </p:nvSpPr>
        <p:spPr>
          <a:xfrm>
            <a:off x="942975" y="570785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book1.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CDCAA"/>
                </a:solidFill>
              </a:rPr>
              <a:t>return_book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()</a:t>
            </a:r>
            <a:endParaRPr lang="en-US" sz="568" dirty="0"/>
          </a:p>
        </p:txBody>
      </p:sp>
      <p:sp>
        <p:nvSpPr>
          <p:cNvPr id="67" name="Text 64"/>
          <p:cNvSpPr/>
          <p:nvPr/>
        </p:nvSpPr>
        <p:spPr>
          <a:xfrm>
            <a:off x="657225" y="5832146"/>
            <a:ext cx="214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858585"/>
                </a:solidFill>
              </a:rPr>
              <a:t>32</a:t>
            </a:r>
            <a:endParaRPr lang="en-US" sz="568" dirty="0"/>
          </a:p>
        </p:txBody>
      </p:sp>
      <p:sp>
        <p:nvSpPr>
          <p:cNvPr id="68" name="Text 65"/>
          <p:cNvSpPr/>
          <p:nvPr/>
        </p:nvSpPr>
        <p:spPr>
          <a:xfrm>
            <a:off x="942975" y="5832146"/>
            <a:ext cx="7543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D4D4D4"/>
                </a:solidFill>
              </a:rPr>
              <a:t>(book1)  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A9955"/>
                </a:solidFill>
              </a:rPr>
              <a:t># Output: "1984" by George Orwell (ISBN: 978-0451524935) - Available</a:t>
            </a:r>
            <a:endParaRPr lang="en-US" sz="56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66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Mini Project: The `Library` Class and Execution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68041"/>
            <a:ext cx="8001000" cy="411435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68041"/>
            <a:ext cx="28575" cy="411435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68041"/>
            <a:ext cx="8001000" cy="41143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The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Library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class demonstrates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4D4D4"/>
                </a:solidFill>
              </a:rPr>
              <a:t>composition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by containing a collection of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objects. It provides methods to manage books, search for specific titles, and list available books.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This shows how independent classes work together to build a complete system.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71500" y="1993776"/>
            <a:ext cx="80010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CDCAA"/>
                </a:solidFill>
              </a:rPr>
              <a:t>Library Class Implementation and Full Execution Example: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571500" y="2163440"/>
            <a:ext cx="8001000" cy="2993231"/>
          </a:xfrm>
          <a:prstGeom prst="rect">
            <a:avLst/>
          </a:prstGeom>
          <a:solidFill>
            <a:srgbClr val="252526"/>
          </a:solidFill>
          <a:ln w="9144">
            <a:solidFill>
              <a:srgbClr val="3E3E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8650" y="2220590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</a:t>
            </a:r>
            <a:endParaRPr lang="en-US" sz="516" dirty="0"/>
          </a:p>
        </p:txBody>
      </p:sp>
      <p:sp>
        <p:nvSpPr>
          <p:cNvPr id="10" name="Text 7"/>
          <p:cNvSpPr/>
          <p:nvPr/>
        </p:nvSpPr>
        <p:spPr>
          <a:xfrm>
            <a:off x="885825" y="2220590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class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Library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:</a:t>
            </a:r>
            <a:endParaRPr lang="en-US" sz="516" dirty="0"/>
          </a:p>
        </p:txBody>
      </p:sp>
      <p:sp>
        <p:nvSpPr>
          <p:cNvPr id="11" name="Text 8"/>
          <p:cNvSpPr/>
          <p:nvPr/>
        </p:nvSpPr>
        <p:spPr>
          <a:xfrm>
            <a:off x="628650" y="2317031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</a:t>
            </a:r>
            <a:endParaRPr lang="en-US" sz="516" dirty="0"/>
          </a:p>
        </p:txBody>
      </p:sp>
      <p:sp>
        <p:nvSpPr>
          <p:cNvPr id="12" name="Text 9"/>
          <p:cNvSpPr/>
          <p:nvPr/>
        </p:nvSpPr>
        <p:spPr>
          <a:xfrm>
            <a:off x="885825" y="2317031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__init__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name):</a:t>
            </a:r>
            <a:endParaRPr lang="en-US" sz="516" dirty="0"/>
          </a:p>
        </p:txBody>
      </p:sp>
      <p:sp>
        <p:nvSpPr>
          <p:cNvPr id="13" name="Text 10"/>
          <p:cNvSpPr/>
          <p:nvPr/>
        </p:nvSpPr>
        <p:spPr>
          <a:xfrm>
            <a:off x="628650" y="2413471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3</a:t>
            </a:r>
            <a:endParaRPr lang="en-US" sz="516" dirty="0"/>
          </a:p>
        </p:txBody>
      </p:sp>
      <p:sp>
        <p:nvSpPr>
          <p:cNvPr id="14" name="Text 11"/>
          <p:cNvSpPr/>
          <p:nvPr/>
        </p:nvSpPr>
        <p:spPr>
          <a:xfrm>
            <a:off x="885825" y="2413471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.name = name</a:t>
            </a:r>
            <a:endParaRPr lang="en-US" sz="516" dirty="0"/>
          </a:p>
        </p:txBody>
      </p:sp>
      <p:sp>
        <p:nvSpPr>
          <p:cNvPr id="15" name="Text 12"/>
          <p:cNvSpPr/>
          <p:nvPr/>
        </p:nvSpPr>
        <p:spPr>
          <a:xfrm>
            <a:off x="628650" y="2509912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4</a:t>
            </a:r>
            <a:endParaRPr lang="en-US" sz="516" dirty="0"/>
          </a:p>
        </p:txBody>
      </p:sp>
      <p:sp>
        <p:nvSpPr>
          <p:cNvPr id="16" name="Text 13"/>
          <p:cNvSpPr/>
          <p:nvPr/>
        </p:nvSpPr>
        <p:spPr>
          <a:xfrm>
            <a:off x="885825" y="2509912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.books = [] 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A9955"/>
                </a:solidFill>
              </a:rPr>
              <a:t># Composition: contains Book objects</a:t>
            </a:r>
            <a:endParaRPr lang="en-US" sz="516" dirty="0"/>
          </a:p>
        </p:txBody>
      </p:sp>
      <p:sp>
        <p:nvSpPr>
          <p:cNvPr id="17" name="Text 14"/>
          <p:cNvSpPr/>
          <p:nvPr/>
        </p:nvSpPr>
        <p:spPr>
          <a:xfrm>
            <a:off x="628650" y="2606353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5</a:t>
            </a:r>
            <a:endParaRPr lang="en-US" sz="516" dirty="0"/>
          </a:p>
        </p:txBody>
      </p:sp>
      <p:sp>
        <p:nvSpPr>
          <p:cNvPr id="18" name="Text 15"/>
          <p:cNvSpPr/>
          <p:nvPr/>
        </p:nvSpPr>
        <p:spPr>
          <a:xfrm>
            <a:off x="885825" y="2606353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add_book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book):</a:t>
            </a:r>
            <a:endParaRPr lang="en-US" sz="516" dirty="0"/>
          </a:p>
        </p:txBody>
      </p:sp>
      <p:sp>
        <p:nvSpPr>
          <p:cNvPr id="19" name="Text 16"/>
          <p:cNvSpPr/>
          <p:nvPr/>
        </p:nvSpPr>
        <p:spPr>
          <a:xfrm>
            <a:off x="628650" y="2702793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6</a:t>
            </a:r>
            <a:endParaRPr lang="en-US" sz="516" dirty="0"/>
          </a:p>
        </p:txBody>
      </p:sp>
      <p:sp>
        <p:nvSpPr>
          <p:cNvPr id="20" name="Text 17"/>
          <p:cNvSpPr/>
          <p:nvPr/>
        </p:nvSpPr>
        <p:spPr>
          <a:xfrm>
            <a:off x="885825" y="2702793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.books.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append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(book)</a:t>
            </a:r>
            <a:endParaRPr lang="en-US" sz="516" dirty="0"/>
          </a:p>
        </p:txBody>
      </p:sp>
      <p:sp>
        <p:nvSpPr>
          <p:cNvPr id="21" name="Text 18"/>
          <p:cNvSpPr/>
          <p:nvPr/>
        </p:nvSpPr>
        <p:spPr>
          <a:xfrm>
            <a:off x="628650" y="2799234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7</a:t>
            </a:r>
            <a:endParaRPr lang="en-US" sz="516" dirty="0"/>
          </a:p>
        </p:txBody>
      </p:sp>
      <p:sp>
        <p:nvSpPr>
          <p:cNvPr id="22" name="Text 19"/>
          <p:cNvSpPr/>
          <p:nvPr/>
        </p:nvSpPr>
        <p:spPr>
          <a:xfrm>
            <a:off x="885825" y="2799234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find_book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title):</a:t>
            </a:r>
            <a:endParaRPr lang="en-US" sz="516" dirty="0"/>
          </a:p>
        </p:txBody>
      </p:sp>
      <p:sp>
        <p:nvSpPr>
          <p:cNvPr id="23" name="Text 20"/>
          <p:cNvSpPr/>
          <p:nvPr/>
        </p:nvSpPr>
        <p:spPr>
          <a:xfrm>
            <a:off x="628650" y="2895674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8</a:t>
            </a:r>
            <a:endParaRPr lang="en-US" sz="516" dirty="0"/>
          </a:p>
        </p:txBody>
      </p:sp>
      <p:sp>
        <p:nvSpPr>
          <p:cNvPr id="24" name="Text 21"/>
          <p:cNvSpPr/>
          <p:nvPr/>
        </p:nvSpPr>
        <p:spPr>
          <a:xfrm>
            <a:off x="885825" y="2895674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for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book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in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.books:</a:t>
            </a:r>
            <a:endParaRPr lang="en-US" sz="516" dirty="0"/>
          </a:p>
        </p:txBody>
      </p:sp>
      <p:sp>
        <p:nvSpPr>
          <p:cNvPr id="25" name="Text 22"/>
          <p:cNvSpPr/>
          <p:nvPr/>
        </p:nvSpPr>
        <p:spPr>
          <a:xfrm>
            <a:off x="628650" y="2992115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9</a:t>
            </a:r>
            <a:endParaRPr lang="en-US" sz="516" dirty="0"/>
          </a:p>
        </p:txBody>
      </p:sp>
      <p:sp>
        <p:nvSpPr>
          <p:cNvPr id="26" name="Text 23"/>
          <p:cNvSpPr/>
          <p:nvPr/>
        </p:nvSpPr>
        <p:spPr>
          <a:xfrm>
            <a:off x="885825" y="2992115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if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book.title.lower() == title.lower():</a:t>
            </a:r>
            <a:endParaRPr lang="en-US" sz="516" dirty="0"/>
          </a:p>
        </p:txBody>
      </p:sp>
      <p:sp>
        <p:nvSpPr>
          <p:cNvPr id="27" name="Text 24"/>
          <p:cNvSpPr/>
          <p:nvPr/>
        </p:nvSpPr>
        <p:spPr>
          <a:xfrm>
            <a:off x="628650" y="3088556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10</a:t>
            </a:r>
            <a:endParaRPr lang="en-US" sz="516" dirty="0"/>
          </a:p>
        </p:txBody>
      </p:sp>
      <p:sp>
        <p:nvSpPr>
          <p:cNvPr id="28" name="Text 25"/>
          <p:cNvSpPr/>
          <p:nvPr/>
        </p:nvSpPr>
        <p:spPr>
          <a:xfrm>
            <a:off x="885825" y="3088556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book</a:t>
            </a:r>
            <a:endParaRPr lang="en-US" sz="516" dirty="0"/>
          </a:p>
        </p:txBody>
      </p:sp>
      <p:sp>
        <p:nvSpPr>
          <p:cNvPr id="29" name="Text 26"/>
          <p:cNvSpPr/>
          <p:nvPr/>
        </p:nvSpPr>
        <p:spPr>
          <a:xfrm>
            <a:off x="628650" y="3184996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11</a:t>
            </a:r>
            <a:endParaRPr lang="en-US" sz="516" dirty="0"/>
          </a:p>
        </p:txBody>
      </p:sp>
      <p:sp>
        <p:nvSpPr>
          <p:cNvPr id="30" name="Text 27"/>
          <p:cNvSpPr/>
          <p:nvPr/>
        </p:nvSpPr>
        <p:spPr>
          <a:xfrm>
            <a:off x="885825" y="3184996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None</a:t>
            </a:r>
            <a:endParaRPr lang="en-US" sz="516" dirty="0"/>
          </a:p>
        </p:txBody>
      </p:sp>
      <p:sp>
        <p:nvSpPr>
          <p:cNvPr id="31" name="Text 28"/>
          <p:cNvSpPr/>
          <p:nvPr/>
        </p:nvSpPr>
        <p:spPr>
          <a:xfrm>
            <a:off x="628650" y="3281437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12</a:t>
            </a:r>
            <a:endParaRPr lang="en-US" sz="516" dirty="0"/>
          </a:p>
        </p:txBody>
      </p:sp>
      <p:sp>
        <p:nvSpPr>
          <p:cNvPr id="32" name="Text 29"/>
          <p:cNvSpPr/>
          <p:nvPr/>
        </p:nvSpPr>
        <p:spPr>
          <a:xfrm>
            <a:off x="885825" y="3281437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def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list_available_books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):</a:t>
            </a:r>
            <a:endParaRPr lang="en-US" sz="516" dirty="0"/>
          </a:p>
        </p:txBody>
      </p:sp>
      <p:sp>
        <p:nvSpPr>
          <p:cNvPr id="33" name="Text 30"/>
          <p:cNvSpPr/>
          <p:nvPr/>
        </p:nvSpPr>
        <p:spPr>
          <a:xfrm>
            <a:off x="628650" y="3377878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13</a:t>
            </a:r>
            <a:endParaRPr lang="en-US" sz="516" dirty="0"/>
          </a:p>
        </p:txBody>
      </p:sp>
      <p:sp>
        <p:nvSpPr>
          <p:cNvPr id="34" name="Text 31"/>
          <p:cNvSpPr/>
          <p:nvPr/>
        </p:nvSpPr>
        <p:spPr>
          <a:xfrm>
            <a:off x="885825" y="3377878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available = [b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for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b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in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self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.books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if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b.is_available]</a:t>
            </a:r>
            <a:endParaRPr lang="en-US" sz="516" dirty="0"/>
          </a:p>
        </p:txBody>
      </p:sp>
      <p:sp>
        <p:nvSpPr>
          <p:cNvPr id="35" name="Text 32"/>
          <p:cNvSpPr/>
          <p:nvPr/>
        </p:nvSpPr>
        <p:spPr>
          <a:xfrm>
            <a:off x="628650" y="3474318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14</a:t>
            </a:r>
            <a:endParaRPr lang="en-US" sz="516" dirty="0"/>
          </a:p>
        </p:txBody>
      </p:sp>
      <p:sp>
        <p:nvSpPr>
          <p:cNvPr id="36" name="Text 33"/>
          <p:cNvSpPr/>
          <p:nvPr/>
        </p:nvSpPr>
        <p:spPr>
          <a:xfrm>
            <a:off x="885825" y="3474318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return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available</a:t>
            </a:r>
            <a:endParaRPr lang="en-US" sz="516" dirty="0"/>
          </a:p>
        </p:txBody>
      </p:sp>
      <p:sp>
        <p:nvSpPr>
          <p:cNvPr id="37" name="Text 34"/>
          <p:cNvSpPr/>
          <p:nvPr/>
        </p:nvSpPr>
        <p:spPr>
          <a:xfrm>
            <a:off x="628650" y="3570759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16</a:t>
            </a:r>
            <a:endParaRPr lang="en-US" sz="516" dirty="0"/>
          </a:p>
        </p:txBody>
      </p:sp>
      <p:sp>
        <p:nvSpPr>
          <p:cNvPr id="38" name="Text 35"/>
          <p:cNvSpPr/>
          <p:nvPr/>
        </p:nvSpPr>
        <p:spPr>
          <a:xfrm>
            <a:off x="885825" y="3565401"/>
            <a:ext cx="123416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A9955"/>
                </a:solidFill>
              </a:rPr>
              <a:t># ===== EXECUTION EXAMPLE =====</a:t>
            </a:r>
            <a:endParaRPr lang="en-US" sz="516" dirty="0"/>
          </a:p>
        </p:txBody>
      </p:sp>
      <p:sp>
        <p:nvSpPr>
          <p:cNvPr id="39" name="Text 36"/>
          <p:cNvSpPr/>
          <p:nvPr/>
        </p:nvSpPr>
        <p:spPr>
          <a:xfrm>
            <a:off x="628650" y="3667199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17</a:t>
            </a:r>
            <a:endParaRPr lang="en-US" sz="516" dirty="0"/>
          </a:p>
        </p:txBody>
      </p:sp>
      <p:sp>
        <p:nvSpPr>
          <p:cNvPr id="40" name="Text 37"/>
          <p:cNvSpPr/>
          <p:nvPr/>
        </p:nvSpPr>
        <p:spPr>
          <a:xfrm>
            <a:off x="885825" y="3667199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lib =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Library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"City Library"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</a:t>
            </a:r>
            <a:endParaRPr lang="en-US" sz="516" dirty="0"/>
          </a:p>
        </p:txBody>
      </p:sp>
      <p:sp>
        <p:nvSpPr>
          <p:cNvPr id="41" name="Text 38"/>
          <p:cNvSpPr/>
          <p:nvPr/>
        </p:nvSpPr>
        <p:spPr>
          <a:xfrm>
            <a:off x="628650" y="3763640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18</a:t>
            </a:r>
            <a:endParaRPr lang="en-US" sz="516" dirty="0"/>
          </a:p>
        </p:txBody>
      </p:sp>
      <p:sp>
        <p:nvSpPr>
          <p:cNvPr id="42" name="Text 39"/>
          <p:cNvSpPr/>
          <p:nvPr/>
        </p:nvSpPr>
        <p:spPr>
          <a:xfrm>
            <a:off x="885825" y="3763640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b1 =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"1984"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"George Orwell"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"978-0451524935"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</a:t>
            </a:r>
            <a:endParaRPr lang="en-US" sz="516" dirty="0"/>
          </a:p>
        </p:txBody>
      </p:sp>
      <p:sp>
        <p:nvSpPr>
          <p:cNvPr id="43" name="Text 40"/>
          <p:cNvSpPr/>
          <p:nvPr/>
        </p:nvSpPr>
        <p:spPr>
          <a:xfrm>
            <a:off x="628650" y="3860081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19</a:t>
            </a:r>
            <a:endParaRPr lang="en-US" sz="516" dirty="0"/>
          </a:p>
        </p:txBody>
      </p:sp>
      <p:sp>
        <p:nvSpPr>
          <p:cNvPr id="44" name="Text 41"/>
          <p:cNvSpPr/>
          <p:nvPr/>
        </p:nvSpPr>
        <p:spPr>
          <a:xfrm>
            <a:off x="885825" y="3860081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b2 =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"To Kill a Mockingbird"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"Harper Lee"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"978-0061120084"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</a:t>
            </a:r>
            <a:endParaRPr lang="en-US" sz="516" dirty="0"/>
          </a:p>
        </p:txBody>
      </p:sp>
      <p:sp>
        <p:nvSpPr>
          <p:cNvPr id="45" name="Text 42"/>
          <p:cNvSpPr/>
          <p:nvPr/>
        </p:nvSpPr>
        <p:spPr>
          <a:xfrm>
            <a:off x="628650" y="3956521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20</a:t>
            </a:r>
            <a:endParaRPr lang="en-US" sz="516" dirty="0"/>
          </a:p>
        </p:txBody>
      </p:sp>
      <p:sp>
        <p:nvSpPr>
          <p:cNvPr id="46" name="Text 43"/>
          <p:cNvSpPr/>
          <p:nvPr/>
        </p:nvSpPr>
        <p:spPr>
          <a:xfrm>
            <a:off x="885825" y="3956521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b3 =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"Pride and Prejudice"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"Jane Austen"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"978-0141439518"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</a:t>
            </a:r>
            <a:endParaRPr lang="en-US" sz="516" dirty="0"/>
          </a:p>
        </p:txBody>
      </p:sp>
      <p:sp>
        <p:nvSpPr>
          <p:cNvPr id="47" name="Text 44"/>
          <p:cNvSpPr/>
          <p:nvPr/>
        </p:nvSpPr>
        <p:spPr>
          <a:xfrm>
            <a:off x="628650" y="4052962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21</a:t>
            </a:r>
            <a:endParaRPr lang="en-US" sz="516" dirty="0"/>
          </a:p>
        </p:txBody>
      </p:sp>
      <p:sp>
        <p:nvSpPr>
          <p:cNvPr id="48" name="Text 45"/>
          <p:cNvSpPr/>
          <p:nvPr/>
        </p:nvSpPr>
        <p:spPr>
          <a:xfrm>
            <a:off x="885825" y="4052962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lib.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add_book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(b1)</a:t>
            </a:r>
            <a:endParaRPr lang="en-US" sz="516" dirty="0"/>
          </a:p>
        </p:txBody>
      </p:sp>
      <p:sp>
        <p:nvSpPr>
          <p:cNvPr id="49" name="Text 46"/>
          <p:cNvSpPr/>
          <p:nvPr/>
        </p:nvSpPr>
        <p:spPr>
          <a:xfrm>
            <a:off x="628650" y="4149403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22</a:t>
            </a:r>
            <a:endParaRPr lang="en-US" sz="516" dirty="0"/>
          </a:p>
        </p:txBody>
      </p:sp>
      <p:sp>
        <p:nvSpPr>
          <p:cNvPr id="50" name="Text 47"/>
          <p:cNvSpPr/>
          <p:nvPr/>
        </p:nvSpPr>
        <p:spPr>
          <a:xfrm>
            <a:off x="885825" y="4149403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lib.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add_book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(b2)</a:t>
            </a:r>
            <a:endParaRPr lang="en-US" sz="516" dirty="0"/>
          </a:p>
        </p:txBody>
      </p:sp>
      <p:sp>
        <p:nvSpPr>
          <p:cNvPr id="51" name="Text 48"/>
          <p:cNvSpPr/>
          <p:nvPr/>
        </p:nvSpPr>
        <p:spPr>
          <a:xfrm>
            <a:off x="628650" y="4245843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23</a:t>
            </a:r>
            <a:endParaRPr lang="en-US" sz="516" dirty="0"/>
          </a:p>
        </p:txBody>
      </p:sp>
      <p:sp>
        <p:nvSpPr>
          <p:cNvPr id="52" name="Text 49"/>
          <p:cNvSpPr/>
          <p:nvPr/>
        </p:nvSpPr>
        <p:spPr>
          <a:xfrm>
            <a:off x="885825" y="4245843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lib.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add_book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(b3)</a:t>
            </a:r>
            <a:endParaRPr lang="en-US" sz="516" dirty="0"/>
          </a:p>
        </p:txBody>
      </p:sp>
      <p:sp>
        <p:nvSpPr>
          <p:cNvPr id="53" name="Text 50"/>
          <p:cNvSpPr/>
          <p:nvPr/>
        </p:nvSpPr>
        <p:spPr>
          <a:xfrm>
            <a:off x="628650" y="4342284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24</a:t>
            </a:r>
            <a:endParaRPr lang="en-US" sz="516" dirty="0"/>
          </a:p>
        </p:txBody>
      </p:sp>
      <p:sp>
        <p:nvSpPr>
          <p:cNvPr id="54" name="Text 51"/>
          <p:cNvSpPr/>
          <p:nvPr/>
        </p:nvSpPr>
        <p:spPr>
          <a:xfrm>
            <a:off x="885825" y="4342284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f"Available books: {len(lib.list_available_books())}"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 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A9955"/>
                </a:solidFill>
              </a:rPr>
              <a:t># 3</a:t>
            </a:r>
            <a:endParaRPr lang="en-US" sz="516" dirty="0"/>
          </a:p>
        </p:txBody>
      </p:sp>
      <p:sp>
        <p:nvSpPr>
          <p:cNvPr id="55" name="Text 52"/>
          <p:cNvSpPr/>
          <p:nvPr/>
        </p:nvSpPr>
        <p:spPr>
          <a:xfrm>
            <a:off x="628650" y="4438724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25</a:t>
            </a:r>
            <a:endParaRPr lang="en-US" sz="516" dirty="0"/>
          </a:p>
        </p:txBody>
      </p:sp>
      <p:sp>
        <p:nvSpPr>
          <p:cNvPr id="56" name="Text 53"/>
          <p:cNvSpPr/>
          <p:nvPr/>
        </p:nvSpPr>
        <p:spPr>
          <a:xfrm>
            <a:off x="885825" y="4438724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b1.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borrow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()</a:t>
            </a:r>
            <a:endParaRPr lang="en-US" sz="516" dirty="0"/>
          </a:p>
        </p:txBody>
      </p:sp>
      <p:sp>
        <p:nvSpPr>
          <p:cNvPr id="57" name="Text 54"/>
          <p:cNvSpPr/>
          <p:nvPr/>
        </p:nvSpPr>
        <p:spPr>
          <a:xfrm>
            <a:off x="628650" y="4535165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26</a:t>
            </a:r>
            <a:endParaRPr lang="en-US" sz="516" dirty="0"/>
          </a:p>
        </p:txBody>
      </p:sp>
      <p:sp>
        <p:nvSpPr>
          <p:cNvPr id="58" name="Text 55"/>
          <p:cNvSpPr/>
          <p:nvPr/>
        </p:nvSpPr>
        <p:spPr>
          <a:xfrm>
            <a:off x="885825" y="4535165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f"Available books: {len(lib.list_available_books())}"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 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A9955"/>
                </a:solidFill>
              </a:rPr>
              <a:t># 2</a:t>
            </a:r>
            <a:endParaRPr lang="en-US" sz="516" dirty="0"/>
          </a:p>
        </p:txBody>
      </p:sp>
      <p:sp>
        <p:nvSpPr>
          <p:cNvPr id="59" name="Text 56"/>
          <p:cNvSpPr/>
          <p:nvPr/>
        </p:nvSpPr>
        <p:spPr>
          <a:xfrm>
            <a:off x="628650" y="4631606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27</a:t>
            </a:r>
            <a:endParaRPr lang="en-US" sz="516" dirty="0"/>
          </a:p>
        </p:txBody>
      </p:sp>
      <p:sp>
        <p:nvSpPr>
          <p:cNvPr id="60" name="Text 57"/>
          <p:cNvSpPr/>
          <p:nvPr/>
        </p:nvSpPr>
        <p:spPr>
          <a:xfrm>
            <a:off x="885825" y="4631606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found = lib.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find_book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"1984"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</a:t>
            </a:r>
            <a:endParaRPr lang="en-US" sz="516" dirty="0"/>
          </a:p>
        </p:txBody>
      </p:sp>
      <p:sp>
        <p:nvSpPr>
          <p:cNvPr id="61" name="Text 58"/>
          <p:cNvSpPr/>
          <p:nvPr/>
        </p:nvSpPr>
        <p:spPr>
          <a:xfrm>
            <a:off x="628650" y="4728046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28</a:t>
            </a:r>
            <a:endParaRPr lang="en-US" sz="516" dirty="0"/>
          </a:p>
        </p:txBody>
      </p:sp>
      <p:sp>
        <p:nvSpPr>
          <p:cNvPr id="62" name="Text 59"/>
          <p:cNvSpPr/>
          <p:nvPr/>
        </p:nvSpPr>
        <p:spPr>
          <a:xfrm>
            <a:off x="885825" y="4728046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(found) 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A9955"/>
                </a:solidFill>
              </a:rPr>
              <a:t># "1984" by George Orwell (ISBN: 978-0451524935) - Borrowed</a:t>
            </a:r>
            <a:endParaRPr lang="en-US" sz="516" dirty="0"/>
          </a:p>
        </p:txBody>
      </p:sp>
      <p:sp>
        <p:nvSpPr>
          <p:cNvPr id="63" name="Text 60"/>
          <p:cNvSpPr/>
          <p:nvPr/>
        </p:nvSpPr>
        <p:spPr>
          <a:xfrm>
            <a:off x="628650" y="4824487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29</a:t>
            </a:r>
            <a:endParaRPr lang="en-US" sz="516" dirty="0"/>
          </a:p>
        </p:txBody>
      </p:sp>
      <p:sp>
        <p:nvSpPr>
          <p:cNvPr id="64" name="Text 61"/>
          <p:cNvSpPr/>
          <p:nvPr/>
        </p:nvSpPr>
        <p:spPr>
          <a:xfrm>
            <a:off x="885825" y="4824487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found.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return_book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()</a:t>
            </a:r>
            <a:endParaRPr lang="en-US" sz="516" dirty="0"/>
          </a:p>
        </p:txBody>
      </p:sp>
      <p:sp>
        <p:nvSpPr>
          <p:cNvPr id="65" name="Text 62"/>
          <p:cNvSpPr/>
          <p:nvPr/>
        </p:nvSpPr>
        <p:spPr>
          <a:xfrm>
            <a:off x="628650" y="4920928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30</a:t>
            </a:r>
            <a:endParaRPr lang="en-US" sz="516" dirty="0"/>
          </a:p>
        </p:txBody>
      </p:sp>
      <p:sp>
        <p:nvSpPr>
          <p:cNvPr id="66" name="Text 63"/>
          <p:cNvSpPr/>
          <p:nvPr/>
        </p:nvSpPr>
        <p:spPr>
          <a:xfrm>
            <a:off x="885825" y="4920928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E9178"/>
                </a:solidFill>
              </a:rPr>
              <a:t>f"Available books: {len(lib.list_available_books())}"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) 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A9955"/>
                </a:solidFill>
              </a:rPr>
              <a:t># 3</a:t>
            </a:r>
            <a:endParaRPr lang="en-US" sz="516" dirty="0"/>
          </a:p>
        </p:txBody>
      </p:sp>
      <p:sp>
        <p:nvSpPr>
          <p:cNvPr id="67" name="Text 64"/>
          <p:cNvSpPr/>
          <p:nvPr/>
        </p:nvSpPr>
        <p:spPr>
          <a:xfrm>
            <a:off x="628650" y="5017368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31</a:t>
            </a:r>
            <a:endParaRPr lang="en-US" sz="516" dirty="0"/>
          </a:p>
        </p:txBody>
      </p:sp>
      <p:sp>
        <p:nvSpPr>
          <p:cNvPr id="68" name="Text 65"/>
          <p:cNvSpPr/>
          <p:nvPr/>
        </p:nvSpPr>
        <p:spPr>
          <a:xfrm>
            <a:off x="885825" y="5017368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for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book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in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 lib.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CDCAA"/>
                </a:solidFill>
              </a:rPr>
              <a:t>list_available_books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():</a:t>
            </a:r>
            <a:endParaRPr lang="en-US" sz="516" dirty="0"/>
          </a:p>
        </p:txBody>
      </p:sp>
      <p:sp>
        <p:nvSpPr>
          <p:cNvPr id="69" name="Text 66"/>
          <p:cNvSpPr/>
          <p:nvPr/>
        </p:nvSpPr>
        <p:spPr>
          <a:xfrm>
            <a:off x="628650" y="5113809"/>
            <a:ext cx="2000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858585"/>
                </a:solidFill>
              </a:rPr>
              <a:t>32</a:t>
            </a:r>
            <a:endParaRPr lang="en-US" sz="516" dirty="0"/>
          </a:p>
        </p:txBody>
      </p:sp>
      <p:sp>
        <p:nvSpPr>
          <p:cNvPr id="70" name="Text 67"/>
          <p:cNvSpPr/>
          <p:nvPr/>
        </p:nvSpPr>
        <p:spPr>
          <a:xfrm>
            <a:off x="885825" y="5113809"/>
            <a:ext cx="7629525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69CD6"/>
                </a:solidFill>
              </a:rPr>
              <a:t>print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D4D4"/>
                </a:solidFill>
              </a:rPr>
              <a:t>(book)</a:t>
            </a:r>
            <a:endParaRPr lang="en-US" sz="5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1" kern="0" dirty="0">
                <a:solidFill>
                  <a:srgbClr val="4EC9B0"/>
                </a:solidFill>
              </a:rPr>
              <a:t>Summary and Next Steps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109067"/>
            <a:ext cx="40540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CDCAA"/>
                </a:solidFill>
              </a:rPr>
              <a:t>The Four Pillars of OOP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350169"/>
            <a:ext cx="1984177" cy="635794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435894"/>
            <a:ext cx="18127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Encapsulation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14350" y="1614488"/>
            <a:ext cx="181272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Bundle data and methods; control access through visibility modifiers.</a:t>
            </a:r>
            <a:endParaRPr lang="en-US" sz="621" dirty="0"/>
          </a:p>
        </p:txBody>
      </p:sp>
      <p:sp>
        <p:nvSpPr>
          <p:cNvPr id="8" name="Shape 5"/>
          <p:cNvSpPr/>
          <p:nvPr/>
        </p:nvSpPr>
        <p:spPr>
          <a:xfrm>
            <a:off x="2498527" y="1350169"/>
            <a:ext cx="1984177" cy="635794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84252" y="1435894"/>
            <a:ext cx="18127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Abstraction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2584252" y="1614488"/>
            <a:ext cx="181272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Hide complexity; expose only essential interfaces to users.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428625" y="2043113"/>
            <a:ext cx="1984177" cy="635794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350" y="2128838"/>
            <a:ext cx="18127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Inheritance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14350" y="2307431"/>
            <a:ext cx="181272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Reuse code through parent-child relationships; use super() to access parents.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2498527" y="2043113"/>
            <a:ext cx="1984177" cy="635794"/>
          </a:xfrm>
          <a:prstGeom prst="rect">
            <a:avLst/>
          </a:prstGeom>
          <a:solidFill>
            <a:srgbClr val="569CD6">
              <a:alpha val="8000"/>
            </a:srgbClr>
          </a:solidFill>
          <a:ln w="18288">
            <a:solidFill>
              <a:srgbClr val="569C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84252" y="2128838"/>
            <a:ext cx="18127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EC9B0"/>
                </a:solidFill>
              </a:rPr>
              <a:t>Polymorphism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2584252" y="2307431"/>
            <a:ext cx="181272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D4D4D4"/>
                </a:solidFill>
              </a:rPr>
              <a:t>Objects of different types respond to the same method calls differently.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4661297" y="1109067"/>
            <a:ext cx="40540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CDCAA"/>
                </a:solidFill>
              </a:rPr>
              <a:t>Key Concepts Recap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661297" y="1350169"/>
            <a:ext cx="4054078" cy="1632347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661297" y="1350169"/>
            <a:ext cx="28575" cy="1632347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20" name="Text 17"/>
          <p:cNvSpPr/>
          <p:nvPr/>
        </p:nvSpPr>
        <p:spPr>
          <a:xfrm>
            <a:off x="4761309" y="1450181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961334" y="1450181"/>
            <a:ext cx="35025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Composition: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Prefer "has-a" relationships over "is-a" for flexibility and simplicity.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761309" y="1676995"/>
            <a:ext cx="128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961334" y="1676995"/>
            <a:ext cx="36540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Dunder Methods: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Use __init__, __str__, __add__, etc. to define object behavior with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built-in operations.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4761309" y="2027039"/>
            <a:ext cx="128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961334" y="2027039"/>
            <a:ext cx="36540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Method Overriding: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Subclasses customize inherited methods to provide specific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implementations.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4761309" y="2377083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961334" y="2377083"/>
            <a:ext cx="33624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super():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Access parent class methods and attributes in multilevel inheritance.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761309" y="2603897"/>
            <a:ext cx="1285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▸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961334" y="2603897"/>
            <a:ext cx="36540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Best Practices: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Single Responsibility, PEP 8, properties, documentation, and clean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code.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428625" y="3454003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CDCAA"/>
                </a:solidFill>
              </a:rPr>
              <a:t>Next Steps for Continued Learning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428625" y="3695105"/>
            <a:ext cx="8286750" cy="1262658"/>
          </a:xfrm>
          <a:prstGeom prst="rect">
            <a:avLst/>
          </a:prstGeom>
          <a:solidFill>
            <a:srgbClr val="CE9178">
              <a:alpha val="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28625" y="3695105"/>
            <a:ext cx="28575" cy="126265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33" name="Text 30"/>
          <p:cNvSpPr/>
          <p:nvPr/>
        </p:nvSpPr>
        <p:spPr>
          <a:xfrm>
            <a:off x="528638" y="3795117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1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728663" y="3795117"/>
            <a:ext cx="65805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Practice: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Build small projects using OOP principles. Start with simple systems (e.g., todo app, student management) and gradually increase complexity.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528638" y="4021931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2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728663" y="4021931"/>
            <a:ext cx="5861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Design Patterns: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Study common design patterns (Singleton, Factory, Observer, Strategy) to solve recurring design problems elegantly.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528638" y="4248745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3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728663" y="4248745"/>
            <a:ext cx="52396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Code Review: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Read and analyze well-written open-source Python projects on GitHub to see OOP best practices in action.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528638" y="4475559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4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728663" y="4475559"/>
            <a:ext cx="44772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Testing: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Learn unit testing with unittest or pytest to ensure your OOP code is robust and maintainable.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528638" y="4702373"/>
            <a:ext cx="128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DCAA"/>
                </a:solidFill>
              </a:rPr>
              <a:t>5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728663" y="4702373"/>
            <a:ext cx="55440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569CD6"/>
                </a:solidFill>
              </a:rPr>
              <a:t>Advanced Topics: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4D4D4"/>
                </a:solidFill>
              </a:rPr>
              <a:t> Explore metaclasses, descriptors, context managers, and decorators to deepen your OOP mastery in Python.</a:t>
            </a:r>
            <a:endParaRPr lang="en-US" sz="63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63453" y="428625"/>
            <a:ext cx="2817093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2" kern="0" dirty="0">
                <a:solidFill>
                  <a:srgbClr val="4EC9B0"/>
                </a:solidFill>
              </a:rPr>
              <a:t>Thank You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1714500" y="1300163"/>
            <a:ext cx="5715000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Thank you for your attention and engagement throughout this comprehensive journey into Object-Oriented Programming in Python. We hope this presentation has provided you with a solid foundation and practical insights into OOP principles and their real-world applications.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1714500" y="2165952"/>
            <a:ext cx="5715000" cy="840088"/>
          </a:xfrm>
          <a:prstGeom prst="rect">
            <a:avLst/>
          </a:prstGeom>
          <a:solidFill>
            <a:srgbClr val="5ECDB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400925" y="2165952"/>
            <a:ext cx="28575" cy="8400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Shape 4"/>
          <p:cNvSpPr/>
          <p:nvPr/>
        </p:nvSpPr>
        <p:spPr>
          <a:xfrm>
            <a:off x="1714500" y="2165952"/>
            <a:ext cx="28575" cy="84008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2165952"/>
            <a:ext cx="5715000" cy="840088"/>
          </a:xfrm>
          <a:prstGeom prst="rect">
            <a:avLst/>
          </a:prstGeom>
          <a:noFill/>
          <a:ln/>
        </p:spPr>
        <p:txBody>
          <a:bodyPr wrap="square" lIns="255143" tIns="153035" rIns="255143" bIns="153035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D4D4D4"/>
                </a:solidFill>
              </a:rPr>
              <a:t>Remember: OOP is about organizing code into reusable, maintainable, and scalable components. </a:t>
            </a:r>
            <a:pPr algn="ctr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D4D4D4"/>
                </a:solidFill>
              </a:rPr>
              <a:t>Master the four pillars—</a:t>
            </a:r>
            <a:pPr algn="ctr" indent="0" marL="0">
              <a:lnSpc>
                <a:spcPts val="1500"/>
              </a:lnSpc>
              <a:buNone/>
            </a:pPr>
            <a:r>
              <a:rPr lang="en-US" sz="784" b="1" dirty="0">
                <a:solidFill>
                  <a:srgbClr val="4EC9B0"/>
                </a:solidFill>
              </a:rPr>
              <a:t>Encapsulation, Abstraction, Inheritance, and Polymorphism</a:t>
            </a:r>
            <a:pPr algn="ctr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D4D4D4"/>
                </a:solidFill>
              </a:rPr>
              <a:t>—and </a:t>
            </a:r>
            <a:pPr algn="ctr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D4D4D4"/>
                </a:solidFill>
              </a:rPr>
              <a:t>you'll write better Python code.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3428665" y="3363227"/>
            <a:ext cx="22866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DCDCAA"/>
                </a:solidFill>
              </a:rPr>
              <a:t>Questions or Further Discussion?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2439144" y="3616830"/>
            <a:ext cx="42656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69CD6"/>
                </a:solidFill>
              </a:rPr>
              <a:t>Feel free to reach out for clarifications or to discuss advanced OOP concepts.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2071688" y="3943657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D4D4D4"/>
                </a:solidFill>
              </a:rPr>
              <a:t>Keep practicing, keep learning, and continue building amazing applications with Python and OOP principles. Happy coding!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2025-11-24T10:12:59Z</dcterms:created>
  <dcterms:modified xsi:type="dcterms:W3CDTF">2025-11-24T10:12:59Z</dcterms:modified>
</cp:coreProperties>
</file>